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743" y="603338"/>
            <a:ext cx="5584825" cy="82550"/>
          </a:xfrm>
          <a:custGeom>
            <a:avLst/>
            <a:gdLst/>
            <a:ahLst/>
            <a:cxnLst/>
            <a:rect l="l" t="t" r="r" b="b"/>
            <a:pathLst>
              <a:path w="5584825" h="82550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5584580" y="82384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8544" y="666603"/>
            <a:ext cx="5584825" cy="854075"/>
          </a:xfrm>
          <a:custGeom>
            <a:avLst/>
            <a:gdLst/>
            <a:ahLst/>
            <a:cxnLst/>
            <a:rect l="l" t="t" r="r" b="b"/>
            <a:pathLst>
              <a:path w="5584825" h="854075">
                <a:moveTo>
                  <a:pt x="5584580" y="0"/>
                </a:moveTo>
                <a:lnTo>
                  <a:pt x="0" y="0"/>
                </a:lnTo>
                <a:lnTo>
                  <a:pt x="0" y="854057"/>
                </a:lnTo>
                <a:lnTo>
                  <a:pt x="5584580" y="854057"/>
                </a:lnTo>
                <a:lnTo>
                  <a:pt x="55845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7743" y="647766"/>
            <a:ext cx="5584825" cy="822325"/>
          </a:xfrm>
          <a:custGeom>
            <a:avLst/>
            <a:gdLst/>
            <a:ahLst/>
            <a:cxnLst/>
            <a:rect l="l" t="t" r="r" b="b"/>
            <a:pathLst>
              <a:path w="5584825" h="822325">
                <a:moveTo>
                  <a:pt x="5584580" y="0"/>
                </a:moveTo>
                <a:lnTo>
                  <a:pt x="0" y="0"/>
                </a:lnTo>
                <a:lnTo>
                  <a:pt x="0" y="771293"/>
                </a:lnTo>
                <a:lnTo>
                  <a:pt x="4008" y="791017"/>
                </a:lnTo>
                <a:lnTo>
                  <a:pt x="14922" y="807170"/>
                </a:lnTo>
                <a:lnTo>
                  <a:pt x="31075" y="818084"/>
                </a:lnTo>
                <a:lnTo>
                  <a:pt x="50800" y="822093"/>
                </a:lnTo>
                <a:lnTo>
                  <a:pt x="5533779" y="822093"/>
                </a:lnTo>
                <a:lnTo>
                  <a:pt x="5553504" y="818084"/>
                </a:lnTo>
                <a:lnTo>
                  <a:pt x="5569657" y="807170"/>
                </a:lnTo>
                <a:lnTo>
                  <a:pt x="5580571" y="791017"/>
                </a:lnTo>
                <a:lnTo>
                  <a:pt x="5584580" y="771293"/>
                </a:lnTo>
                <a:lnTo>
                  <a:pt x="5584580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7"/>
            <a:ext cx="383794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992261"/>
            <a:ext cx="4766945" cy="1174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94093" y="3135783"/>
            <a:ext cx="53213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383189" y="3135783"/>
            <a:ext cx="60515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51069" y="3135783"/>
            <a:ext cx="2540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" Target="slide1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" Target="slide1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" Target="slide1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slide" Target="slide1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" Target="slide1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slide" Target="slide1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32.png"/><Relationship Id="rId8" Type="http://schemas.openxmlformats.org/officeDocument/2006/relationships/slide" Target="slide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8544" y="666603"/>
            <a:ext cx="5584825" cy="85407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 marR="93345">
              <a:lnSpc>
                <a:spcPct val="100000"/>
              </a:lnSpc>
              <a:spcBef>
                <a:spcPts val="44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Add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70">
                <a:solidFill>
                  <a:srgbClr val="FFFFFF"/>
                </a:solidFill>
                <a:latin typeface="Tahoma"/>
                <a:cs typeface="Tahoma"/>
              </a:rPr>
              <a:t>LBD</a:t>
            </a:r>
            <a:r>
              <a:rPr dirty="0" sz="14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information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about</a:t>
            </a:r>
            <a:r>
              <a:rPr dirty="0" sz="14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clauses</a:t>
            </a:r>
            <a:endParaRPr sz="1400">
              <a:latin typeface="Tahoma"/>
              <a:cs typeface="Tahoma"/>
            </a:endParaRPr>
          </a:p>
          <a:p>
            <a:pPr algn="ctr" marL="1075055" marR="1170940">
              <a:lnSpc>
                <a:spcPct val="102600"/>
              </a:lnSpc>
              <a:spcBef>
                <a:spcPts val="290"/>
              </a:spcBef>
            </a:pP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Predicting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Tahoma"/>
                <a:cs typeface="Tahoma"/>
              </a:rPr>
              <a:t>Learnt</a:t>
            </a:r>
            <a:r>
              <a:rPr dirty="0" sz="11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Clauses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Quality</a:t>
            </a:r>
            <a:r>
              <a:rPr dirty="0" sz="11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11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Modern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SAT</a:t>
            </a:r>
            <a:r>
              <a:rPr dirty="0" sz="11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Tahoma"/>
                <a:cs typeface="Tahoma"/>
              </a:rPr>
              <a:t>Solvers </a:t>
            </a:r>
            <a:r>
              <a:rPr dirty="0" sz="1100" spc="-20">
                <a:solidFill>
                  <a:srgbClr val="FFFFFF"/>
                </a:solidFill>
                <a:latin typeface="Tahoma"/>
                <a:cs typeface="Tahoma"/>
              </a:rPr>
              <a:t>Gilles</a:t>
            </a:r>
            <a:r>
              <a:rPr dirty="0" sz="110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FFFFFF"/>
                </a:solidFill>
                <a:latin typeface="Tahoma"/>
                <a:cs typeface="Tahoma"/>
              </a:rPr>
              <a:t>Audemard,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Tahoma"/>
                <a:cs typeface="Tahoma"/>
              </a:rPr>
              <a:t>Laurent</a:t>
            </a:r>
            <a:r>
              <a:rPr dirty="0" sz="11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Tahoma"/>
                <a:cs typeface="Tahoma"/>
              </a:rPr>
              <a:t>Simon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(IJCAI</a:t>
            </a:r>
            <a:r>
              <a:rPr dirty="0" sz="11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2009)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369502" y="1679942"/>
            <a:ext cx="1021715" cy="735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Amani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Qaddah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00" spc="-30">
                <a:latin typeface="Tahoma"/>
                <a:cs typeface="Tahoma"/>
              </a:rPr>
              <a:t>January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29,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2026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261361" y="3135783"/>
            <a:ext cx="12376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Add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5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LBD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information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about</a:t>
            </a:r>
            <a:r>
              <a:rPr dirty="0" sz="600" spc="3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clauses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68262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dirty="0" spc="-20"/>
              <a:t> </a:t>
            </a:r>
            <a:r>
              <a:rPr dirty="0" spc="-80"/>
              <a:t>Idea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40891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50924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40713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730514"/>
            <a:ext cx="52590" cy="5259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882343"/>
            <a:ext cx="52590" cy="5259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2034184"/>
            <a:ext cx="52590" cy="5259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02932" y="1013660"/>
            <a:ext cx="3190240" cy="111379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180"/>
              </a:spcBef>
            </a:pPr>
            <a:r>
              <a:rPr dirty="0" sz="1100" spc="-60">
                <a:latin typeface="Tahoma"/>
                <a:cs typeface="Tahoma"/>
              </a:rPr>
              <a:t>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CDCL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learn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many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clauses,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but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not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all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useful. </a:t>
            </a: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add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 b="1">
                <a:latin typeface="Arial"/>
                <a:cs typeface="Arial"/>
              </a:rPr>
              <a:t>quality</a:t>
            </a:r>
            <a:r>
              <a:rPr dirty="0" sz="1100" spc="25" b="1">
                <a:latin typeface="Arial"/>
                <a:cs typeface="Arial"/>
              </a:rPr>
              <a:t> </a:t>
            </a:r>
            <a:r>
              <a:rPr dirty="0" sz="1100" spc="-60" b="1">
                <a:latin typeface="Arial"/>
                <a:cs typeface="Arial"/>
              </a:rPr>
              <a:t>signal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learned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clauses: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20" b="1">
                <a:latin typeface="Arial"/>
                <a:cs typeface="Arial"/>
              </a:rPr>
              <a:t>LBD</a:t>
            </a:r>
            <a:r>
              <a:rPr dirty="0" sz="1100" spc="-20">
                <a:latin typeface="Tahoma"/>
                <a:cs typeface="Tahoma"/>
              </a:rPr>
              <a:t>. </a:t>
            </a:r>
            <a:r>
              <a:rPr dirty="0" sz="1100">
                <a:latin typeface="Tahoma"/>
                <a:cs typeface="Tahoma"/>
              </a:rPr>
              <a:t>Then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we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use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10">
                <a:latin typeface="Tahoma"/>
                <a:cs typeface="Tahoma"/>
              </a:rPr>
              <a:t> practice: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dirty="0" sz="1000">
                <a:latin typeface="Tahoma"/>
                <a:cs typeface="Tahoma"/>
              </a:rPr>
              <a:t>track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quality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statistics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5"/>
              </a:lnSpc>
            </a:pPr>
            <a:r>
              <a:rPr dirty="0" sz="1000" spc="-55">
                <a:latin typeface="Tahoma"/>
                <a:cs typeface="Tahoma"/>
              </a:rPr>
              <a:t>keep</a:t>
            </a:r>
            <a:r>
              <a:rPr dirty="0" sz="1000" spc="-20">
                <a:latin typeface="Tahoma"/>
                <a:cs typeface="Tahoma"/>
              </a:rPr>
              <a:t> important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clauses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(glue)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</a:pPr>
            <a:r>
              <a:rPr dirty="0" sz="1000" spc="-45">
                <a:latin typeface="Tahoma"/>
                <a:cs typeface="Tahoma"/>
              </a:rPr>
              <a:t>delete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weak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clauses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safely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(bounded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DB)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1" name="object 11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2261361" y="3135783"/>
            <a:ext cx="12376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Add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 spc="5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LBD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information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about</a:t>
            </a:r>
            <a:r>
              <a:rPr dirty="0" sz="600" spc="35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clauses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Paper</a:t>
            </a:r>
            <a:r>
              <a:rPr dirty="0" spc="-55"/>
              <a:t> </a:t>
            </a:r>
            <a:r>
              <a:rPr dirty="0" spc="-45"/>
              <a:t>Summary:</a:t>
            </a:r>
            <a:r>
              <a:rPr dirty="0" spc="80"/>
              <a:t> </a:t>
            </a:r>
            <a:r>
              <a:rPr dirty="0" spc="-45"/>
              <a:t>Audemard</a:t>
            </a:r>
            <a:r>
              <a:rPr dirty="0" spc="-50"/>
              <a:t> </a:t>
            </a:r>
            <a:r>
              <a:rPr dirty="0" spc="120"/>
              <a:t>&amp;</a:t>
            </a:r>
            <a:r>
              <a:rPr dirty="0" spc="-50"/>
              <a:t> </a:t>
            </a:r>
            <a:r>
              <a:rPr dirty="0" spc="-20"/>
              <a:t>Simon</a:t>
            </a:r>
            <a:r>
              <a:rPr dirty="0" spc="-50"/>
              <a:t> </a:t>
            </a:r>
            <a:r>
              <a:rPr dirty="0"/>
              <a:t>(IJCAI</a:t>
            </a:r>
            <a:r>
              <a:rPr dirty="0" spc="-50"/>
              <a:t> </a:t>
            </a:r>
            <a:r>
              <a:rPr dirty="0" spc="-10"/>
              <a:t>2009)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19479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29512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19300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709115"/>
            <a:ext cx="52590" cy="5259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860943"/>
            <a:ext cx="52590" cy="52590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dirty="0"/>
              <a:t>Main</a:t>
            </a:r>
            <a:r>
              <a:rPr dirty="0" spc="-10"/>
              <a:t> </a:t>
            </a:r>
            <a:r>
              <a:rPr dirty="0" spc="-40"/>
              <a:t>question:</a:t>
            </a:r>
            <a:r>
              <a:rPr dirty="0" spc="105"/>
              <a:t> </a:t>
            </a:r>
            <a:r>
              <a:rPr dirty="0" spc="-65"/>
              <a:t>how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 spc="-35"/>
              <a:t>estimate</a:t>
            </a:r>
            <a:r>
              <a:rPr dirty="0" spc="-10"/>
              <a:t> </a:t>
            </a:r>
            <a:r>
              <a:rPr dirty="0" spc="-50"/>
              <a:t>learned</a:t>
            </a:r>
            <a:r>
              <a:rPr dirty="0" spc="-5"/>
              <a:t> </a:t>
            </a:r>
            <a:r>
              <a:rPr dirty="0" spc="-40"/>
              <a:t>clause</a:t>
            </a:r>
            <a:r>
              <a:rPr dirty="0" spc="-5"/>
              <a:t> </a:t>
            </a:r>
            <a:r>
              <a:rPr dirty="0" spc="-55"/>
              <a:t>usefulness</a:t>
            </a:r>
            <a:r>
              <a:rPr dirty="0" spc="-10"/>
              <a:t> </a:t>
            </a:r>
            <a:r>
              <a:rPr dirty="0"/>
              <a:t>in</a:t>
            </a:r>
            <a:r>
              <a:rPr dirty="0" spc="-10"/>
              <a:t> </a:t>
            </a:r>
            <a:r>
              <a:rPr dirty="0" spc="-50"/>
              <a:t>modern</a:t>
            </a:r>
            <a:r>
              <a:rPr dirty="0" spc="-5"/>
              <a:t> </a:t>
            </a:r>
            <a:r>
              <a:rPr dirty="0"/>
              <a:t>SAT</a:t>
            </a:r>
            <a:r>
              <a:rPr dirty="0" spc="-5"/>
              <a:t> </a:t>
            </a:r>
            <a:r>
              <a:rPr dirty="0" spc="-35"/>
              <a:t>solvers? </a:t>
            </a:r>
            <a:r>
              <a:rPr dirty="0"/>
              <a:t>Key</a:t>
            </a:r>
            <a:r>
              <a:rPr dirty="0" spc="-45"/>
              <a:t> </a:t>
            </a:r>
            <a:r>
              <a:rPr dirty="0" spc="-30"/>
              <a:t>idea:</a:t>
            </a:r>
            <a:r>
              <a:rPr dirty="0" spc="65"/>
              <a:t> </a:t>
            </a:r>
            <a:r>
              <a:rPr dirty="0" b="1">
                <a:latin typeface="Arial"/>
                <a:cs typeface="Arial"/>
              </a:rPr>
              <a:t>LBD</a:t>
            </a:r>
            <a:r>
              <a:rPr dirty="0" spc="3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(Literal</a:t>
            </a:r>
            <a:r>
              <a:rPr dirty="0" spc="35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Block</a:t>
            </a:r>
            <a:r>
              <a:rPr dirty="0" spc="3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Distance)</a:t>
            </a:r>
            <a:r>
              <a:rPr dirty="0" b="1">
                <a:latin typeface="Arial"/>
                <a:cs typeface="Arial"/>
              </a:rPr>
              <a:t> </a:t>
            </a:r>
            <a:r>
              <a:rPr dirty="0" spc="-30"/>
              <a:t>as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 spc="-40"/>
              <a:t>clause-</a:t>
            </a:r>
            <a:r>
              <a:rPr dirty="0" spc="-30"/>
              <a:t>quality</a:t>
            </a:r>
            <a:r>
              <a:rPr dirty="0" spc="-40"/>
              <a:t> </a:t>
            </a:r>
            <a:r>
              <a:rPr dirty="0" spc="-10"/>
              <a:t>measure.</a:t>
            </a: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Interpretation:</a:t>
            </a: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dirty="0" sz="1000" spc="50"/>
              <a:t>LBD</a:t>
            </a:r>
            <a:r>
              <a:rPr dirty="0" sz="1000" spc="-25"/>
              <a:t> </a:t>
            </a:r>
            <a:r>
              <a:rPr dirty="0" sz="1000"/>
              <a:t>=</a:t>
            </a:r>
            <a:r>
              <a:rPr dirty="0" sz="1000" spc="-15"/>
              <a:t> </a:t>
            </a:r>
            <a:r>
              <a:rPr dirty="0" sz="1000" spc="-40"/>
              <a:t>number</a:t>
            </a:r>
            <a:r>
              <a:rPr dirty="0" sz="1000" spc="-15"/>
              <a:t> </a:t>
            </a:r>
            <a:r>
              <a:rPr dirty="0" sz="1000"/>
              <a:t>of</a:t>
            </a:r>
            <a:r>
              <a:rPr dirty="0" sz="1000" spc="45"/>
              <a:t> </a:t>
            </a:r>
            <a:r>
              <a:rPr dirty="0" sz="1000" spc="-25" b="1">
                <a:latin typeface="Arial"/>
                <a:cs typeface="Arial"/>
              </a:rPr>
              <a:t>distinct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 spc="-50" b="1">
                <a:latin typeface="Arial"/>
                <a:cs typeface="Arial"/>
              </a:rPr>
              <a:t>decision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 spc="-45" b="1">
                <a:latin typeface="Arial"/>
                <a:cs typeface="Arial"/>
              </a:rPr>
              <a:t>levels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/>
              <a:t>in</a:t>
            </a:r>
            <a:r>
              <a:rPr dirty="0" sz="1000" spc="-15"/>
              <a:t> </a:t>
            </a:r>
            <a:r>
              <a:rPr dirty="0" sz="1000" spc="-20"/>
              <a:t>the </a:t>
            </a:r>
            <a:r>
              <a:rPr dirty="0" sz="1000" spc="-10"/>
              <a:t>clause.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ts val="1200"/>
              </a:lnSpc>
            </a:pPr>
            <a:r>
              <a:rPr dirty="0" sz="1000" spc="-10"/>
              <a:t>Low</a:t>
            </a:r>
            <a:r>
              <a:rPr dirty="0" sz="1000" spc="-15"/>
              <a:t> </a:t>
            </a:r>
            <a:r>
              <a:rPr dirty="0" sz="1000"/>
              <a:t>LBD</a:t>
            </a:r>
            <a:r>
              <a:rPr dirty="0" sz="1000" spc="-10"/>
              <a:t> </a:t>
            </a:r>
            <a:r>
              <a:rPr dirty="0" sz="1000" spc="-45"/>
              <a:t>clauses</a:t>
            </a:r>
            <a:r>
              <a:rPr dirty="0" sz="1000" spc="-15"/>
              <a:t> </a:t>
            </a:r>
            <a:r>
              <a:rPr dirty="0" sz="1000"/>
              <a:t>(“glue”)</a:t>
            </a:r>
            <a:r>
              <a:rPr dirty="0" sz="1000" spc="-10"/>
              <a:t> </a:t>
            </a:r>
            <a:r>
              <a:rPr dirty="0" sz="1000" spc="-30"/>
              <a:t>connect</a:t>
            </a:r>
            <a:r>
              <a:rPr dirty="0" sz="1000" spc="-15"/>
              <a:t> </a:t>
            </a:r>
            <a:r>
              <a:rPr dirty="0" sz="1000" spc="-30"/>
              <a:t>parts</a:t>
            </a:r>
            <a:r>
              <a:rPr dirty="0" sz="1000" spc="-15"/>
              <a:t> </a:t>
            </a:r>
            <a:r>
              <a:rPr dirty="0" sz="1000"/>
              <a:t>of</a:t>
            </a:r>
            <a:r>
              <a:rPr dirty="0" sz="1000" spc="-10"/>
              <a:t> </a:t>
            </a:r>
            <a:r>
              <a:rPr dirty="0" sz="1000" spc="-20"/>
              <a:t>the</a:t>
            </a:r>
            <a:r>
              <a:rPr dirty="0" sz="1000" spc="-15"/>
              <a:t> </a:t>
            </a:r>
            <a:r>
              <a:rPr dirty="0" sz="1000" spc="-55"/>
              <a:t>search</a:t>
            </a:r>
            <a:r>
              <a:rPr dirty="0" sz="1000" spc="-10"/>
              <a:t> </a:t>
            </a:r>
            <a:r>
              <a:rPr dirty="0" sz="1000" spc="-25"/>
              <a:t>and</a:t>
            </a:r>
            <a:r>
              <a:rPr dirty="0" sz="1000" spc="-10"/>
              <a:t> </a:t>
            </a:r>
            <a:r>
              <a:rPr dirty="0" sz="1000" spc="-25"/>
              <a:t>tend</a:t>
            </a:r>
            <a:r>
              <a:rPr dirty="0" sz="1000" spc="-15"/>
              <a:t> </a:t>
            </a:r>
            <a:r>
              <a:rPr dirty="0" sz="1000"/>
              <a:t>to</a:t>
            </a:r>
            <a:r>
              <a:rPr dirty="0" sz="1000" spc="-10"/>
              <a:t> </a:t>
            </a:r>
            <a:r>
              <a:rPr dirty="0" sz="1000"/>
              <a:t>be</a:t>
            </a:r>
            <a:r>
              <a:rPr dirty="0" sz="1000" spc="-10"/>
              <a:t> </a:t>
            </a:r>
            <a:r>
              <a:rPr dirty="0" sz="1000" spc="-40"/>
              <a:t>very</a:t>
            </a:r>
            <a:r>
              <a:rPr dirty="0" sz="1000" spc="-15"/>
              <a:t> </a:t>
            </a:r>
            <a:r>
              <a:rPr dirty="0" sz="1000" spc="-10"/>
              <a:t>valuable.</a:t>
            </a:r>
            <a:endParaRPr sz="1000"/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/>
              <a:t>Practical</a:t>
            </a:r>
            <a:r>
              <a:rPr dirty="0" spc="-55"/>
              <a:t> </a:t>
            </a:r>
            <a:r>
              <a:rPr dirty="0" spc="-40"/>
              <a:t>outcome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40"/>
              <a:t> solvers:</a:t>
            </a:r>
            <a:r>
              <a:rPr dirty="0" spc="65"/>
              <a:t> </a:t>
            </a:r>
            <a:r>
              <a:rPr dirty="0" spc="-65"/>
              <a:t>keep</a:t>
            </a:r>
            <a:r>
              <a:rPr dirty="0" spc="-25"/>
              <a:t> </a:t>
            </a:r>
            <a:r>
              <a:rPr dirty="0" spc="-40"/>
              <a:t>glue</a:t>
            </a:r>
            <a:r>
              <a:rPr dirty="0" spc="-35"/>
              <a:t> </a:t>
            </a:r>
            <a:r>
              <a:rPr dirty="0" spc="-45"/>
              <a:t>clauses,</a:t>
            </a:r>
            <a:r>
              <a:rPr dirty="0" spc="-40"/>
              <a:t> </a:t>
            </a:r>
            <a:r>
              <a:rPr dirty="0" spc="-20"/>
              <a:t>control</a:t>
            </a:r>
            <a:r>
              <a:rPr dirty="0" spc="-35"/>
              <a:t> </a:t>
            </a:r>
            <a:r>
              <a:rPr dirty="0" spc="-45"/>
              <a:t>database</a:t>
            </a:r>
            <a:r>
              <a:rPr dirty="0" spc="-40"/>
              <a:t> </a:t>
            </a:r>
            <a:r>
              <a:rPr dirty="0" spc="-10"/>
              <a:t>growth.</a:t>
            </a:r>
          </a:p>
        </p:txBody>
      </p: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058301"/>
            <a:ext cx="65265" cy="65265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1" name="object 11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2261361" y="3135783"/>
            <a:ext cx="12376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Add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 spc="5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LBD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information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about</a:t>
            </a:r>
            <a:r>
              <a:rPr dirty="0" sz="600" spc="35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clauses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70"/>
              <a:t>LBD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 spc="-25"/>
              <a:t>Intuition</a:t>
            </a:r>
            <a:r>
              <a:rPr dirty="0" spc="-30"/>
              <a:t> by </a:t>
            </a:r>
            <a:r>
              <a:rPr dirty="0" spc="-35"/>
              <a:t>Example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578724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88756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98789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5844" y="542771"/>
            <a:ext cx="3134995" cy="23450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latin typeface="Arial"/>
                <a:cs typeface="Arial"/>
              </a:rPr>
              <a:t>Literal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Block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Distance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(LBD)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100" spc="-10" b="1">
                <a:latin typeface="Arial"/>
                <a:cs typeface="Arial"/>
              </a:rPr>
              <a:t>Example: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>
              <a:latin typeface="Arial"/>
              <a:cs typeface="Arial"/>
            </a:endParaRPr>
          </a:p>
          <a:p>
            <a:pPr marL="2385695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Trebuchet MS"/>
                <a:cs typeface="Trebuchet MS"/>
              </a:rPr>
              <a:t>x</a:t>
            </a:r>
            <a:r>
              <a:rPr dirty="0" sz="1100" spc="-20" i="1">
                <a:latin typeface="Trebuchet MS"/>
                <a:cs typeface="Trebuchet MS"/>
              </a:rPr>
              <a:t> </a:t>
            </a:r>
            <a:r>
              <a:rPr dirty="0" sz="1100" spc="-375">
                <a:latin typeface="SimSun-ExtB"/>
                <a:cs typeface="SimSun-ExtB"/>
              </a:rPr>
              <a:t>∨</a:t>
            </a:r>
            <a:r>
              <a:rPr dirty="0" sz="1100" spc="-310">
                <a:latin typeface="SimSun-ExtB"/>
                <a:cs typeface="SimSun-ExtB"/>
              </a:rPr>
              <a:t> </a:t>
            </a:r>
            <a:r>
              <a:rPr dirty="0" sz="1100" spc="-215">
                <a:latin typeface="SimSun-ExtB"/>
                <a:cs typeface="SimSun-ExtB"/>
              </a:rPr>
              <a:t>¬</a:t>
            </a:r>
            <a:r>
              <a:rPr dirty="0" sz="1100" spc="-215" i="1">
                <a:latin typeface="Trebuchet MS"/>
                <a:cs typeface="Trebuchet MS"/>
              </a:rPr>
              <a:t>y</a:t>
            </a:r>
            <a:r>
              <a:rPr dirty="0" sz="1100" spc="25" i="1">
                <a:latin typeface="Trebuchet MS"/>
                <a:cs typeface="Trebuchet MS"/>
              </a:rPr>
              <a:t> </a:t>
            </a:r>
            <a:r>
              <a:rPr dirty="0" sz="1100" spc="-375">
                <a:latin typeface="SimSun-ExtB"/>
                <a:cs typeface="SimSun-ExtB"/>
              </a:rPr>
              <a:t>∨</a:t>
            </a:r>
            <a:r>
              <a:rPr dirty="0" sz="1100" spc="-310">
                <a:latin typeface="SimSun-ExtB"/>
                <a:cs typeface="SimSun-ExtB"/>
              </a:rPr>
              <a:t> </a:t>
            </a:r>
            <a:r>
              <a:rPr dirty="0" sz="1100" spc="-60" i="1">
                <a:latin typeface="Trebuchet MS"/>
                <a:cs typeface="Trebuchet MS"/>
              </a:rPr>
              <a:t>z</a:t>
            </a:r>
            <a:r>
              <a:rPr dirty="0" sz="1100" spc="-240" i="1">
                <a:latin typeface="Trebuchet MS"/>
                <a:cs typeface="Trebuchet MS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289560" marR="1018540">
              <a:lnSpc>
                <a:spcPct val="125299"/>
              </a:lnSpc>
              <a:spcBef>
                <a:spcPts val="645"/>
              </a:spcBef>
            </a:pPr>
            <a:r>
              <a:rPr dirty="0" sz="1100" i="1">
                <a:latin typeface="Trebuchet MS"/>
                <a:cs typeface="Trebuchet MS"/>
              </a:rPr>
              <a:t>x</a:t>
            </a:r>
            <a:r>
              <a:rPr dirty="0" sz="1100" spc="90" i="1">
                <a:latin typeface="Trebuchet MS"/>
                <a:cs typeface="Trebuchet MS"/>
              </a:rPr>
              <a:t> </a:t>
            </a:r>
            <a:r>
              <a:rPr dirty="0" sz="1100" spc="-60">
                <a:latin typeface="Tahoma"/>
                <a:cs typeface="Tahoma"/>
              </a:rPr>
              <a:t>assigned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decision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level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1</a:t>
            </a:r>
            <a:r>
              <a:rPr dirty="0" sz="1100" spc="500">
                <a:latin typeface="Tahoma"/>
                <a:cs typeface="Tahoma"/>
              </a:rPr>
              <a:t> </a:t>
            </a:r>
            <a:r>
              <a:rPr dirty="0" sz="1100" i="1">
                <a:latin typeface="Trebuchet MS"/>
                <a:cs typeface="Trebuchet MS"/>
              </a:rPr>
              <a:t>y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Trebuchet MS"/>
                <a:cs typeface="Trebuchet MS"/>
              </a:rPr>
              <a:t>z</a:t>
            </a:r>
            <a:r>
              <a:rPr dirty="0" sz="1100" spc="95" i="1">
                <a:latin typeface="Trebuchet MS"/>
                <a:cs typeface="Trebuchet MS"/>
              </a:rPr>
              <a:t> </a:t>
            </a:r>
            <a:r>
              <a:rPr dirty="0" sz="1100" spc="-60">
                <a:latin typeface="Tahoma"/>
                <a:cs typeface="Tahoma"/>
              </a:rPr>
              <a:t>assigned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decision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level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4 </a:t>
            </a:r>
            <a:r>
              <a:rPr dirty="0" sz="1100">
                <a:latin typeface="Tahoma"/>
                <a:cs typeface="Tahoma"/>
              </a:rPr>
              <a:t>Distinct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decision levels:</a:t>
            </a:r>
            <a:r>
              <a:rPr dirty="0" sz="1100" spc="70">
                <a:latin typeface="Tahoma"/>
                <a:cs typeface="Tahoma"/>
              </a:rPr>
              <a:t> </a:t>
            </a:r>
            <a:r>
              <a:rPr dirty="0" sz="1100" spc="-30">
                <a:latin typeface="SimSun-ExtB"/>
                <a:cs typeface="SimSun-ExtB"/>
              </a:rPr>
              <a:t>{</a:t>
            </a:r>
            <a:r>
              <a:rPr dirty="0" sz="1100" spc="-30">
                <a:latin typeface="Tahoma"/>
                <a:cs typeface="Tahoma"/>
              </a:rPr>
              <a:t>1</a:t>
            </a:r>
            <a:r>
              <a:rPr dirty="0" sz="1100" spc="-3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4</a:t>
            </a:r>
            <a:r>
              <a:rPr dirty="0" sz="1100" spc="-35">
                <a:latin typeface="SimSun-ExtB"/>
                <a:cs typeface="SimSun-ExtB"/>
              </a:rPr>
              <a:t>}</a:t>
            </a:r>
            <a:endParaRPr sz="1100">
              <a:latin typeface="SimSun-ExtB"/>
              <a:cs typeface="SimSun-ExtB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100">
              <a:latin typeface="SimSun-ExtB"/>
              <a:cs typeface="SimSun-ExtB"/>
            </a:endParaRPr>
          </a:p>
          <a:p>
            <a:pPr marL="2392045">
              <a:lnSpc>
                <a:spcPct val="100000"/>
              </a:lnSpc>
            </a:pPr>
            <a:r>
              <a:rPr dirty="0" sz="1100" spc="-30">
                <a:latin typeface="SimSun-ExtB"/>
                <a:cs typeface="SimSun-ExtB"/>
              </a:rPr>
              <a:t>⇒</a:t>
            </a:r>
            <a:r>
              <a:rPr dirty="0" sz="1100" spc="-225">
                <a:latin typeface="SimSun-ExtB"/>
                <a:cs typeface="SimSun-ExtB"/>
              </a:rPr>
              <a:t> </a:t>
            </a:r>
            <a:r>
              <a:rPr dirty="0" sz="1100" b="1">
                <a:latin typeface="Arial"/>
                <a:cs typeface="Arial"/>
              </a:rPr>
              <a:t>LBD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100" spc="-20">
                <a:latin typeface="Tahoma"/>
                <a:cs typeface="Tahoma"/>
              </a:rPr>
              <a:t>Low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LBD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clauses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called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50" i="1">
                <a:latin typeface="Trebuchet MS"/>
                <a:cs typeface="Trebuchet MS"/>
              </a:rPr>
              <a:t>glue</a:t>
            </a:r>
            <a:r>
              <a:rPr dirty="0" sz="1100" spc="10" i="1">
                <a:latin typeface="Trebuchet MS"/>
                <a:cs typeface="Trebuchet MS"/>
              </a:rPr>
              <a:t> </a:t>
            </a:r>
            <a:r>
              <a:rPr dirty="0" sz="1100" spc="-10" i="1">
                <a:latin typeface="Trebuchet MS"/>
                <a:cs typeface="Trebuchet MS"/>
              </a:rPr>
              <a:t>clauses</a:t>
            </a:r>
            <a:r>
              <a:rPr dirty="0" sz="1100" spc="-1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8" name="object 8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2261361" y="3135783"/>
            <a:ext cx="12376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Add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 spc="5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LBD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information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about</a:t>
            </a:r>
            <a:r>
              <a:rPr dirty="0" sz="600" spc="35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clauses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Using</a:t>
            </a:r>
            <a:r>
              <a:rPr dirty="0" spc="-25"/>
              <a:t> </a:t>
            </a:r>
            <a:r>
              <a:rPr dirty="0" spc="70"/>
              <a:t>LBD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 spc="-10"/>
              <a:t>Practice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16406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26438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16227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706041"/>
            <a:ext cx="52590" cy="5259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857870"/>
            <a:ext cx="52590" cy="5259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02932" y="989175"/>
            <a:ext cx="4799965" cy="117475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latin typeface="Tahoma"/>
                <a:cs typeface="Tahoma"/>
              </a:rPr>
              <a:t>Add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LBD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field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per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learned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clause.</a:t>
            </a:r>
            <a:endParaRPr sz="1100">
              <a:latin typeface="Tahoma"/>
              <a:cs typeface="Tahoma"/>
            </a:endParaRPr>
          </a:p>
          <a:p>
            <a:pPr marL="12700" marR="1211580">
              <a:lnSpc>
                <a:spcPct val="113199"/>
              </a:lnSpc>
              <a:spcBef>
                <a:spcPts val="160"/>
              </a:spcBef>
            </a:pPr>
            <a:r>
              <a:rPr dirty="0" sz="1100" spc="-30">
                <a:latin typeface="Tahoma"/>
                <a:cs typeface="Tahoma"/>
              </a:rPr>
              <a:t>Compute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LBD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every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learned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clause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track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distribution. </a:t>
            </a:r>
            <a:r>
              <a:rPr dirty="0" sz="1100" spc="-20">
                <a:latin typeface="Tahoma"/>
                <a:cs typeface="Tahoma"/>
              </a:rPr>
              <a:t>Use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LBD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deletion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policy:</a:t>
            </a:r>
            <a:endParaRPr sz="1100">
              <a:latin typeface="Tahoma"/>
              <a:cs typeface="Tahoma"/>
            </a:endParaRPr>
          </a:p>
          <a:p>
            <a:pPr marL="289560" marR="2823210">
              <a:lnSpc>
                <a:spcPct val="100000"/>
              </a:lnSpc>
              <a:spcBef>
                <a:spcPts val="175"/>
              </a:spcBef>
            </a:pPr>
            <a:r>
              <a:rPr dirty="0" sz="1000" spc="-20">
                <a:latin typeface="Tahoma"/>
                <a:cs typeface="Tahoma"/>
              </a:rPr>
              <a:t>protect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glue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clauses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(LBD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-229">
                <a:latin typeface="SimSun-ExtB"/>
                <a:cs typeface="SimSun-ExtB"/>
              </a:rPr>
              <a:t>≤</a:t>
            </a:r>
            <a:r>
              <a:rPr dirty="0" sz="1000" spc="-220">
                <a:latin typeface="SimSun-ExtB"/>
                <a:cs typeface="SimSun-ExtB"/>
              </a:rPr>
              <a:t> </a:t>
            </a:r>
            <a:r>
              <a:rPr dirty="0" sz="1000" spc="-35">
                <a:latin typeface="Tahoma"/>
                <a:cs typeface="Tahoma"/>
              </a:rPr>
              <a:t>2) </a:t>
            </a:r>
            <a:r>
              <a:rPr dirty="0" sz="1000" spc="-45">
                <a:latin typeface="Tahoma"/>
                <a:cs typeface="Tahoma"/>
              </a:rPr>
              <a:t>delete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worst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clauses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periodically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100" spc="-30">
                <a:latin typeface="Tahoma"/>
                <a:cs typeface="Tahoma"/>
              </a:rPr>
              <a:t>Safety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requirement: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never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delete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clauses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used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reasons</a:t>
            </a:r>
            <a:r>
              <a:rPr dirty="0" sz="1100" spc="-25">
                <a:latin typeface="Tahoma"/>
                <a:cs typeface="Tahoma"/>
              </a:rPr>
              <a:t> (locked clauses).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055228"/>
            <a:ext cx="65265" cy="65265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1" name="object 11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2261361" y="3135783"/>
            <a:ext cx="12376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Add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 spc="5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LBD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information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about</a:t>
            </a:r>
            <a:r>
              <a:rPr dirty="0" sz="600" spc="35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clauses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Project</a:t>
            </a:r>
            <a:r>
              <a:rPr dirty="0" spc="-100"/>
              <a:t> </a:t>
            </a:r>
            <a:r>
              <a:rPr dirty="0" spc="-20"/>
              <a:t>Plan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19479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29512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19300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709115"/>
            <a:ext cx="52590" cy="5259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860943"/>
            <a:ext cx="52590" cy="52590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pc="-25"/>
              <a:t>Stage</a:t>
            </a:r>
            <a:r>
              <a:rPr dirty="0" spc="-10"/>
              <a:t> </a:t>
            </a:r>
            <a:r>
              <a:rPr dirty="0"/>
              <a:t>1:</a:t>
            </a:r>
            <a:r>
              <a:rPr dirty="0" spc="100"/>
              <a:t> </a:t>
            </a:r>
            <a:r>
              <a:rPr dirty="0" spc="-35"/>
              <a:t>implement</a:t>
            </a:r>
            <a:r>
              <a:rPr dirty="0" spc="-15"/>
              <a:t> </a:t>
            </a:r>
            <a:r>
              <a:rPr dirty="0"/>
              <a:t>LBD</a:t>
            </a:r>
            <a:r>
              <a:rPr dirty="0" spc="-15"/>
              <a:t> </a:t>
            </a:r>
            <a:r>
              <a:rPr dirty="0"/>
              <a:t>+</a:t>
            </a:r>
            <a:r>
              <a:rPr dirty="0" spc="-10"/>
              <a:t> stats </a:t>
            </a:r>
            <a:r>
              <a:rPr dirty="0" spc="-20"/>
              <a:t>(quality</a:t>
            </a:r>
            <a:r>
              <a:rPr dirty="0" spc="-10"/>
              <a:t> visibility).</a:t>
            </a:r>
          </a:p>
          <a:p>
            <a:pPr marL="12700" marR="5080">
              <a:lnSpc>
                <a:spcPct val="113199"/>
              </a:lnSpc>
              <a:spcBef>
                <a:spcPts val="160"/>
              </a:spcBef>
            </a:pPr>
            <a:r>
              <a:rPr dirty="0" spc="-25"/>
              <a:t>Stage</a:t>
            </a:r>
            <a:r>
              <a:rPr dirty="0" spc="-20"/>
              <a:t> </a:t>
            </a:r>
            <a:r>
              <a:rPr dirty="0"/>
              <a:t>2:</a:t>
            </a:r>
            <a:r>
              <a:rPr dirty="0" spc="90"/>
              <a:t> </a:t>
            </a:r>
            <a:r>
              <a:rPr dirty="0" spc="-35"/>
              <a:t>integrate</a:t>
            </a:r>
            <a:r>
              <a:rPr dirty="0" spc="-20"/>
              <a:t> </a:t>
            </a:r>
            <a:r>
              <a:rPr dirty="0" spc="-40"/>
              <a:t>clause</a:t>
            </a:r>
            <a:r>
              <a:rPr dirty="0" spc="-15"/>
              <a:t> </a:t>
            </a:r>
            <a:r>
              <a:rPr dirty="0" spc="-25"/>
              <a:t>minimization,</a:t>
            </a:r>
            <a:r>
              <a:rPr dirty="0" spc="-20"/>
              <a:t> </a:t>
            </a:r>
            <a:r>
              <a:rPr dirty="0" spc="-25"/>
              <a:t>then</a:t>
            </a:r>
            <a:r>
              <a:rPr dirty="0" spc="-15"/>
              <a:t> </a:t>
            </a:r>
            <a:r>
              <a:rPr dirty="0" spc="-40"/>
              <a:t>compute</a:t>
            </a:r>
            <a:r>
              <a:rPr dirty="0" spc="-20"/>
              <a:t> </a:t>
            </a:r>
            <a:r>
              <a:rPr dirty="0"/>
              <a:t>LBD</a:t>
            </a:r>
            <a:r>
              <a:rPr dirty="0" spc="-20"/>
              <a:t> </a:t>
            </a:r>
            <a:r>
              <a:rPr dirty="0" spc="-50"/>
              <a:t>(more</a:t>
            </a:r>
            <a:r>
              <a:rPr dirty="0" spc="-15"/>
              <a:t> </a:t>
            </a:r>
            <a:r>
              <a:rPr dirty="0" spc="-25"/>
              <a:t>accurate). Stage</a:t>
            </a:r>
            <a:r>
              <a:rPr dirty="0" spc="-65"/>
              <a:t> </a:t>
            </a:r>
            <a:r>
              <a:rPr dirty="0"/>
              <a:t>3:</a:t>
            </a:r>
            <a:r>
              <a:rPr dirty="0" spc="45"/>
              <a:t> </a:t>
            </a:r>
            <a:r>
              <a:rPr dirty="0" spc="-40"/>
              <a:t>clause</a:t>
            </a:r>
            <a:r>
              <a:rPr dirty="0" spc="-50"/>
              <a:t> </a:t>
            </a:r>
            <a:r>
              <a:rPr dirty="0" spc="-45"/>
              <a:t>database</a:t>
            </a:r>
            <a:r>
              <a:rPr dirty="0" spc="-40"/>
              <a:t> </a:t>
            </a:r>
            <a:r>
              <a:rPr dirty="0" spc="-10"/>
              <a:t>management:</a:t>
            </a:r>
          </a:p>
          <a:p>
            <a:pPr marL="289560" marR="2138680">
              <a:lnSpc>
                <a:spcPct val="100000"/>
              </a:lnSpc>
              <a:spcBef>
                <a:spcPts val="175"/>
              </a:spcBef>
            </a:pPr>
            <a:r>
              <a:rPr dirty="0" sz="1000" spc="-20"/>
              <a:t>periodic</a:t>
            </a:r>
            <a:r>
              <a:rPr dirty="0" sz="1000" spc="-15"/>
              <a:t> </a:t>
            </a:r>
            <a:r>
              <a:rPr dirty="0" sz="1000" spc="-30"/>
              <a:t>deletion,</a:t>
            </a:r>
            <a:r>
              <a:rPr dirty="0" sz="1000" spc="-15"/>
              <a:t> </a:t>
            </a:r>
            <a:r>
              <a:rPr dirty="0" sz="1000" spc="-25"/>
              <a:t>LBD-</a:t>
            </a:r>
            <a:r>
              <a:rPr dirty="0" sz="1000"/>
              <a:t>based</a:t>
            </a:r>
            <a:r>
              <a:rPr dirty="0" sz="1000" spc="-15"/>
              <a:t> </a:t>
            </a:r>
            <a:r>
              <a:rPr dirty="0" sz="1000" spc="-35"/>
              <a:t>selection </a:t>
            </a:r>
            <a:r>
              <a:rPr dirty="0" sz="1000" spc="-25"/>
              <a:t>locked</a:t>
            </a:r>
            <a:r>
              <a:rPr dirty="0" sz="1000" spc="-10"/>
              <a:t> </a:t>
            </a:r>
            <a:r>
              <a:rPr dirty="0" sz="1000" spc="-45"/>
              <a:t>clause</a:t>
            </a:r>
            <a:r>
              <a:rPr dirty="0" sz="1000" spc="-10"/>
              <a:t> protection</a:t>
            </a:r>
            <a:endParaRPr sz="1000"/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pc="-25"/>
              <a:t>Stage </a:t>
            </a:r>
            <a:r>
              <a:rPr dirty="0"/>
              <a:t>4</a:t>
            </a:r>
            <a:r>
              <a:rPr dirty="0" spc="-20"/>
              <a:t> </a:t>
            </a:r>
            <a:r>
              <a:rPr dirty="0"/>
              <a:t>:</a:t>
            </a:r>
            <a:r>
              <a:rPr dirty="0" spc="85"/>
              <a:t> </a:t>
            </a:r>
            <a:r>
              <a:rPr dirty="0" spc="-45"/>
              <a:t>benchmark</a:t>
            </a:r>
            <a:r>
              <a:rPr dirty="0" spc="-25"/>
              <a:t> </a:t>
            </a:r>
            <a:r>
              <a:rPr dirty="0" spc="-35"/>
              <a:t>runs</a:t>
            </a:r>
            <a:r>
              <a:rPr dirty="0" spc="-20"/>
              <a:t> </a:t>
            </a:r>
            <a:r>
              <a:rPr dirty="0"/>
              <a:t>+</a:t>
            </a:r>
            <a:r>
              <a:rPr dirty="0" spc="-20"/>
              <a:t> </a:t>
            </a:r>
            <a:r>
              <a:rPr dirty="0" spc="-60"/>
              <a:t>compare</a:t>
            </a:r>
            <a:r>
              <a:rPr dirty="0" spc="-25"/>
              <a:t> </a:t>
            </a:r>
            <a:r>
              <a:rPr dirty="0" spc="-30"/>
              <a:t>vs</a:t>
            </a:r>
            <a:r>
              <a:rPr dirty="0" spc="-25"/>
              <a:t> </a:t>
            </a:r>
            <a:r>
              <a:rPr dirty="0" spc="-10"/>
              <a:t>baseline.</a:t>
            </a:r>
          </a:p>
        </p:txBody>
      </p: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058301"/>
            <a:ext cx="65265" cy="65265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1" name="object 11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2261361" y="3135783"/>
            <a:ext cx="12376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Add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 spc="5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LBD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information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about</a:t>
            </a:r>
            <a:r>
              <a:rPr dirty="0" sz="600" spc="35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clauses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262953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-85"/>
              <a:t> </a:t>
            </a:r>
            <a:r>
              <a:rPr dirty="0" spc="-114"/>
              <a:t>we</a:t>
            </a:r>
            <a:r>
              <a:rPr dirty="0" spc="5"/>
              <a:t> </a:t>
            </a:r>
            <a:r>
              <a:rPr dirty="0" spc="-45"/>
              <a:t>already</a:t>
            </a:r>
            <a:r>
              <a:rPr dirty="0" spc="-40"/>
              <a:t> </a:t>
            </a:r>
            <a:r>
              <a:rPr dirty="0"/>
              <a:t>did</a:t>
            </a:r>
            <a:r>
              <a:rPr dirty="0" spc="-40"/>
              <a:t> </a:t>
            </a:r>
            <a:r>
              <a:rPr dirty="0" spc="-25"/>
              <a:t>(short</a:t>
            </a:r>
            <a:r>
              <a:rPr dirty="0" spc="-35"/>
              <a:t> </a:t>
            </a:r>
            <a:r>
              <a:rPr dirty="0" spc="-10"/>
              <a:t>status)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59687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69720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79753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669541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859343"/>
            <a:ext cx="52590" cy="5259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2011184"/>
            <a:ext cx="52590" cy="5259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0865" y="2163013"/>
            <a:ext cx="52590" cy="5259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02932" y="932457"/>
            <a:ext cx="3760470" cy="132397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ct val="121300"/>
              </a:lnSpc>
              <a:spcBef>
                <a:spcPts val="155"/>
              </a:spcBef>
            </a:pPr>
            <a:r>
              <a:rPr dirty="0" sz="1100" spc="-55">
                <a:latin typeface="Tahoma"/>
                <a:cs typeface="Tahoma"/>
              </a:rPr>
              <a:t>Implemented</a:t>
            </a:r>
            <a:r>
              <a:rPr dirty="0" sz="1100">
                <a:latin typeface="Tahoma"/>
                <a:cs typeface="Tahoma"/>
              </a:rPr>
              <a:t> LBD </a:t>
            </a:r>
            <a:r>
              <a:rPr dirty="0" sz="1100" spc="-30">
                <a:latin typeface="Tahoma"/>
                <a:cs typeface="Tahoma"/>
              </a:rPr>
              <a:t>computation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stored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learned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clauses. </a:t>
            </a:r>
            <a:r>
              <a:rPr dirty="0" sz="1100" spc="-55">
                <a:latin typeface="Tahoma"/>
                <a:cs typeface="Tahoma"/>
              </a:rPr>
              <a:t>Implemented: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minimize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learned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clause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first,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then</a:t>
            </a:r>
            <a:r>
              <a:rPr dirty="0" sz="1100" spc="-40">
                <a:latin typeface="Tahoma"/>
                <a:cs typeface="Tahoma"/>
              </a:rPr>
              <a:t> compute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LBD. </a:t>
            </a:r>
            <a:r>
              <a:rPr dirty="0" sz="1100" spc="-25">
                <a:latin typeface="Tahoma"/>
                <a:cs typeface="Tahoma"/>
              </a:rPr>
              <a:t>Added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statistics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printing:</a:t>
            </a:r>
            <a:r>
              <a:rPr dirty="0" sz="1100" spc="10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average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LBD,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glue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count,</a:t>
            </a:r>
            <a:r>
              <a:rPr dirty="0" sz="1100" spc="-10">
                <a:latin typeface="Tahoma"/>
                <a:cs typeface="Tahoma"/>
              </a:rPr>
              <a:t> histogram. </a:t>
            </a:r>
            <a:r>
              <a:rPr dirty="0" sz="1100" spc="-55">
                <a:latin typeface="Tahoma"/>
                <a:cs typeface="Tahoma"/>
              </a:rPr>
              <a:t>Implemented</a:t>
            </a:r>
            <a:r>
              <a:rPr dirty="0" sz="1100" spc="-30">
                <a:latin typeface="Tahoma"/>
                <a:cs typeface="Tahoma"/>
              </a:rPr>
              <a:t> deletion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that:</a:t>
            </a:r>
            <a:endParaRPr sz="1100">
              <a:latin typeface="Tahoma"/>
              <a:cs typeface="Tahoma"/>
            </a:endParaRPr>
          </a:p>
          <a:p>
            <a:pPr marL="289560" marR="2258695">
              <a:lnSpc>
                <a:spcPct val="100000"/>
              </a:lnSpc>
              <a:spcBef>
                <a:spcPts val="175"/>
              </a:spcBef>
            </a:pPr>
            <a:r>
              <a:rPr dirty="0" sz="1000" spc="-30">
                <a:latin typeface="Tahoma"/>
                <a:cs typeface="Tahoma"/>
              </a:rPr>
              <a:t>protects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glue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clauses </a:t>
            </a:r>
            <a:r>
              <a:rPr dirty="0" sz="1000" spc="-30">
                <a:latin typeface="Tahoma"/>
                <a:cs typeface="Tahoma"/>
              </a:rPr>
              <a:t>protects </a:t>
            </a:r>
            <a:r>
              <a:rPr dirty="0" sz="1000" spc="-25">
                <a:latin typeface="Tahoma"/>
                <a:cs typeface="Tahoma"/>
              </a:rPr>
              <a:t>locked </a:t>
            </a:r>
            <a:r>
              <a:rPr dirty="0" sz="1000" spc="-50">
                <a:latin typeface="Tahoma"/>
                <a:cs typeface="Tahoma"/>
              </a:rPr>
              <a:t>clauses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0"/>
              </a:lnSpc>
            </a:pPr>
            <a:r>
              <a:rPr dirty="0" sz="1000" spc="-45">
                <a:latin typeface="Tahoma"/>
                <a:cs typeface="Tahoma"/>
              </a:rPr>
              <a:t>deletes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worst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fraction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periodically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2" name="object 12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2261361" y="3135783"/>
            <a:ext cx="12376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Add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600" spc="5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LBD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information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about</a:t>
            </a:r>
            <a:r>
              <a:rPr dirty="0" sz="600" spc="35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clauses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70"/>
              <a:t>LBD</a:t>
            </a:r>
            <a:r>
              <a:rPr dirty="0" spc="40"/>
              <a:t> </a:t>
            </a:r>
            <a:r>
              <a:rPr dirty="0" spc="-35"/>
              <a:t>computation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8056" y="896924"/>
            <a:ext cx="5564505" cy="147320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wrap="square" lIns="0" tIns="21590" rIns="0" bIns="0" rtlCol="0" vert="horz">
            <a:spAutoFit/>
          </a:bodyPr>
          <a:lstStyle/>
          <a:p>
            <a:pPr marL="255270" marR="3124200" indent="-215265">
              <a:lnSpc>
                <a:spcPct val="101499"/>
              </a:lnSpc>
              <a:spcBef>
                <a:spcPts val="170"/>
              </a:spcBef>
            </a:pPr>
            <a:r>
              <a:rPr dirty="0" sz="900" spc="140">
                <a:latin typeface="Calibri"/>
                <a:cs typeface="Calibri"/>
              </a:rPr>
              <a:t>int</a:t>
            </a:r>
            <a:r>
              <a:rPr dirty="0" sz="900" spc="290">
                <a:latin typeface="Calibri"/>
                <a:cs typeface="Calibri"/>
              </a:rPr>
              <a:t> </a:t>
            </a:r>
            <a:r>
              <a:rPr dirty="0" sz="900" spc="55">
                <a:latin typeface="Calibri"/>
                <a:cs typeface="Calibri"/>
              </a:rPr>
              <a:t>Solver::computeLBD(Clause&amp;</a:t>
            </a:r>
            <a:r>
              <a:rPr dirty="0" sz="900" spc="290">
                <a:latin typeface="Calibri"/>
                <a:cs typeface="Calibri"/>
              </a:rPr>
              <a:t> </a:t>
            </a:r>
            <a:r>
              <a:rPr dirty="0" sz="900" spc="100">
                <a:latin typeface="Calibri"/>
                <a:cs typeface="Calibri"/>
              </a:rPr>
              <a:t>clause)</a:t>
            </a:r>
            <a:r>
              <a:rPr dirty="0" sz="900" spc="290">
                <a:latin typeface="Calibri"/>
                <a:cs typeface="Calibri"/>
              </a:rPr>
              <a:t> </a:t>
            </a:r>
            <a:r>
              <a:rPr dirty="0" sz="900" spc="130">
                <a:latin typeface="Calibri"/>
                <a:cs typeface="Calibri"/>
              </a:rPr>
              <a:t>{ </a:t>
            </a:r>
            <a:r>
              <a:rPr dirty="0" sz="900" spc="60">
                <a:latin typeface="Calibri"/>
                <a:cs typeface="Calibri"/>
              </a:rPr>
              <a:t>unordered_set&lt;int&gt;</a:t>
            </a:r>
            <a:r>
              <a:rPr dirty="0" sz="900" spc="280">
                <a:latin typeface="Calibri"/>
                <a:cs typeface="Calibri"/>
              </a:rPr>
              <a:t> </a:t>
            </a:r>
            <a:r>
              <a:rPr dirty="0" sz="900" spc="125">
                <a:latin typeface="Calibri"/>
                <a:cs typeface="Calibri"/>
              </a:rPr>
              <a:t>levels;</a:t>
            </a:r>
            <a:endParaRPr sz="900">
              <a:latin typeface="Calibri"/>
              <a:cs typeface="Calibri"/>
            </a:endParaRPr>
          </a:p>
          <a:p>
            <a:pPr marL="470534" marR="3566795" indent="-215265">
              <a:lnSpc>
                <a:spcPct val="101499"/>
              </a:lnSpc>
            </a:pPr>
            <a:r>
              <a:rPr dirty="0" sz="900" spc="110">
                <a:latin typeface="Calibri"/>
                <a:cs typeface="Calibri"/>
              </a:rPr>
              <a:t>for</a:t>
            </a:r>
            <a:r>
              <a:rPr dirty="0" sz="900" spc="265">
                <a:latin typeface="Calibri"/>
                <a:cs typeface="Calibri"/>
              </a:rPr>
              <a:t> </a:t>
            </a:r>
            <a:r>
              <a:rPr dirty="0" sz="900" spc="175">
                <a:latin typeface="Calibri"/>
                <a:cs typeface="Calibri"/>
              </a:rPr>
              <a:t>(Lit</a:t>
            </a:r>
            <a:r>
              <a:rPr dirty="0" sz="900" spc="265">
                <a:latin typeface="Calibri"/>
                <a:cs typeface="Calibri"/>
              </a:rPr>
              <a:t> </a:t>
            </a:r>
            <a:r>
              <a:rPr dirty="0" sz="900" spc="225">
                <a:latin typeface="Calibri"/>
                <a:cs typeface="Calibri"/>
              </a:rPr>
              <a:t>lit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 spc="229">
                <a:latin typeface="Calibri"/>
                <a:cs typeface="Calibri"/>
              </a:rPr>
              <a:t>:</a:t>
            </a:r>
            <a:r>
              <a:rPr dirty="0" sz="900" spc="265">
                <a:latin typeface="Calibri"/>
                <a:cs typeface="Calibri"/>
              </a:rPr>
              <a:t> </a:t>
            </a:r>
            <a:r>
              <a:rPr dirty="0" sz="900" spc="140">
                <a:latin typeface="Calibri"/>
                <a:cs typeface="Calibri"/>
              </a:rPr>
              <a:t>clause.cl())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 spc="130">
                <a:latin typeface="Calibri"/>
                <a:cs typeface="Calibri"/>
              </a:rPr>
              <a:t>{ </a:t>
            </a:r>
            <a:r>
              <a:rPr dirty="0" sz="900" spc="50">
                <a:latin typeface="Calibri"/>
                <a:cs typeface="Calibri"/>
              </a:rPr>
              <a:t>Var</a:t>
            </a:r>
            <a:r>
              <a:rPr dirty="0" sz="900" spc="265">
                <a:latin typeface="Calibri"/>
                <a:cs typeface="Calibri"/>
              </a:rPr>
              <a:t> </a:t>
            </a:r>
            <a:r>
              <a:rPr dirty="0" sz="900" spc="55">
                <a:latin typeface="Calibri"/>
                <a:cs typeface="Calibri"/>
              </a:rPr>
              <a:t>v</a:t>
            </a:r>
            <a:r>
              <a:rPr dirty="0" sz="900" spc="26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=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 spc="170">
                <a:latin typeface="Calibri"/>
                <a:cs typeface="Calibri"/>
              </a:rPr>
              <a:t>l2v(lit);</a:t>
            </a:r>
            <a:endParaRPr sz="900">
              <a:latin typeface="Calibri"/>
              <a:cs typeface="Calibri"/>
            </a:endParaRPr>
          </a:p>
          <a:p>
            <a:pPr marL="470534">
              <a:lnSpc>
                <a:spcPct val="100000"/>
              </a:lnSpc>
              <a:spcBef>
                <a:spcPts val="15"/>
              </a:spcBef>
            </a:pPr>
            <a:r>
              <a:rPr dirty="0" sz="900" spc="140">
                <a:latin typeface="Calibri"/>
                <a:cs typeface="Calibri"/>
              </a:rPr>
              <a:t>int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 spc="185">
                <a:latin typeface="Calibri"/>
                <a:cs typeface="Calibri"/>
              </a:rPr>
              <a:t>lvl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=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 spc="114">
                <a:latin typeface="Calibri"/>
                <a:cs typeface="Calibri"/>
              </a:rPr>
              <a:t>dlevel[v];</a:t>
            </a:r>
            <a:endParaRPr sz="900">
              <a:latin typeface="Calibri"/>
              <a:cs typeface="Calibri"/>
            </a:endParaRPr>
          </a:p>
          <a:p>
            <a:pPr marL="470534">
              <a:lnSpc>
                <a:spcPct val="100000"/>
              </a:lnSpc>
              <a:spcBef>
                <a:spcPts val="15"/>
              </a:spcBef>
            </a:pPr>
            <a:r>
              <a:rPr dirty="0" sz="900" spc="225">
                <a:latin typeface="Calibri"/>
                <a:cs typeface="Calibri"/>
              </a:rPr>
              <a:t>if</a:t>
            </a:r>
            <a:r>
              <a:rPr dirty="0" sz="900" spc="265">
                <a:latin typeface="Calibri"/>
                <a:cs typeface="Calibri"/>
              </a:rPr>
              <a:t> </a:t>
            </a:r>
            <a:r>
              <a:rPr dirty="0" sz="900" spc="190">
                <a:latin typeface="Calibri"/>
                <a:cs typeface="Calibri"/>
              </a:rPr>
              <a:t>(lvl</a:t>
            </a:r>
            <a:r>
              <a:rPr dirty="0" sz="900" spc="26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&gt;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 spc="105">
                <a:latin typeface="Calibri"/>
                <a:cs typeface="Calibri"/>
              </a:rPr>
              <a:t>0)</a:t>
            </a:r>
            <a:r>
              <a:rPr dirty="0" sz="900" spc="265">
                <a:latin typeface="Calibri"/>
                <a:cs typeface="Calibri"/>
              </a:rPr>
              <a:t> </a:t>
            </a:r>
            <a:r>
              <a:rPr dirty="0" sz="900" spc="140">
                <a:latin typeface="Calibri"/>
                <a:cs typeface="Calibri"/>
              </a:rPr>
              <a:t>levels.insert(lvl);</a:t>
            </a:r>
            <a:endParaRPr sz="900">
              <a:latin typeface="Calibri"/>
              <a:cs typeface="Calibri"/>
            </a:endParaRPr>
          </a:p>
          <a:p>
            <a:pPr marL="255270">
              <a:lnSpc>
                <a:spcPct val="100000"/>
              </a:lnSpc>
              <a:spcBef>
                <a:spcPts val="15"/>
              </a:spcBef>
            </a:pPr>
            <a:r>
              <a:rPr dirty="0" sz="900" spc="130">
                <a:latin typeface="Calibri"/>
                <a:cs typeface="Calibri"/>
              </a:rPr>
              <a:t>}</a:t>
            </a:r>
            <a:endParaRPr sz="900">
              <a:latin typeface="Calibri"/>
              <a:cs typeface="Calibri"/>
            </a:endParaRPr>
          </a:p>
          <a:p>
            <a:pPr marL="255270" marR="3566795">
              <a:lnSpc>
                <a:spcPct val="101499"/>
              </a:lnSpc>
            </a:pPr>
            <a:r>
              <a:rPr dirty="0" sz="900" spc="140">
                <a:latin typeface="Calibri"/>
                <a:cs typeface="Calibri"/>
              </a:rPr>
              <a:t>int</a:t>
            </a:r>
            <a:r>
              <a:rPr dirty="0" sz="900" spc="265">
                <a:latin typeface="Calibri"/>
                <a:cs typeface="Calibri"/>
              </a:rPr>
              <a:t> </a:t>
            </a:r>
            <a:r>
              <a:rPr dirty="0" sz="900" spc="80">
                <a:latin typeface="Calibri"/>
                <a:cs typeface="Calibri"/>
              </a:rPr>
              <a:t>lbd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=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 spc="140">
                <a:latin typeface="Calibri"/>
                <a:cs typeface="Calibri"/>
              </a:rPr>
              <a:t>(int)levels.size(); </a:t>
            </a:r>
            <a:r>
              <a:rPr dirty="0" sz="900" spc="80">
                <a:latin typeface="Calibri"/>
                <a:cs typeface="Calibri"/>
              </a:rPr>
              <a:t>return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 spc="105">
                <a:latin typeface="Calibri"/>
                <a:cs typeface="Calibri"/>
              </a:rPr>
              <a:t>(lbd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==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 spc="105">
                <a:latin typeface="Calibri"/>
                <a:cs typeface="Calibri"/>
              </a:rPr>
              <a:t>0)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 spc="55">
                <a:latin typeface="Calibri"/>
                <a:cs typeface="Calibri"/>
              </a:rPr>
              <a:t>?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1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 spc="229">
                <a:latin typeface="Calibri"/>
                <a:cs typeface="Calibri"/>
              </a:rPr>
              <a:t>: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 spc="95">
                <a:latin typeface="Calibri"/>
                <a:cs typeface="Calibri"/>
              </a:rPr>
              <a:t>lbd;</a:t>
            </a:r>
            <a:endParaRPr sz="900">
              <a:latin typeface="Calibri"/>
              <a:cs typeface="Calibri"/>
            </a:endParaRPr>
          </a:p>
          <a:p>
            <a:pPr marL="40005">
              <a:lnSpc>
                <a:spcPct val="100000"/>
              </a:lnSpc>
              <a:spcBef>
                <a:spcPts val="15"/>
              </a:spcBef>
            </a:pPr>
            <a:r>
              <a:rPr dirty="0" sz="900" spc="130">
                <a:latin typeface="Calibri"/>
                <a:cs typeface="Calibri"/>
              </a:rPr>
              <a:t>}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261361" y="3135783"/>
            <a:ext cx="12376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Add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5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LBD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information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about</a:t>
            </a:r>
            <a:r>
              <a:rPr dirty="0" sz="600" spc="3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clauses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Integrating</a:t>
            </a:r>
            <a:r>
              <a:rPr dirty="0" spc="-10"/>
              <a:t> </a:t>
            </a:r>
            <a:r>
              <a:rPr dirty="0" spc="70"/>
              <a:t>LBD</a:t>
            </a:r>
            <a:r>
              <a:rPr dirty="0" spc="-5"/>
              <a:t> </a:t>
            </a:r>
            <a:r>
              <a:rPr dirty="0"/>
              <a:t>into</a:t>
            </a:r>
            <a:r>
              <a:rPr dirty="0" spc="-5"/>
              <a:t> </a:t>
            </a:r>
            <a:r>
              <a:rPr dirty="0" spc="-45"/>
              <a:t>analyze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646479"/>
            <a:ext cx="30721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Minimize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first,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compute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LBD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update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stats.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8056" y="888822"/>
            <a:ext cx="5564505" cy="175133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185"/>
              </a:spcBef>
            </a:pPr>
            <a:r>
              <a:rPr dirty="0" sz="900" spc="114" i="1">
                <a:latin typeface="Calibri"/>
                <a:cs typeface="Calibri"/>
              </a:rPr>
              <a:t>//</a:t>
            </a:r>
            <a:r>
              <a:rPr dirty="0" sz="900" spc="310" i="1">
                <a:latin typeface="Calibri"/>
                <a:cs typeface="Calibri"/>
              </a:rPr>
              <a:t> </a:t>
            </a:r>
            <a:r>
              <a:rPr dirty="0" sz="900" spc="110" i="1">
                <a:latin typeface="Calibri"/>
                <a:cs typeface="Calibri"/>
              </a:rPr>
              <a:t>inside</a:t>
            </a:r>
            <a:r>
              <a:rPr dirty="0" sz="900" spc="310" i="1">
                <a:latin typeface="Calibri"/>
                <a:cs typeface="Calibri"/>
              </a:rPr>
              <a:t> </a:t>
            </a:r>
            <a:r>
              <a:rPr dirty="0" sz="900" spc="110" i="1">
                <a:latin typeface="Calibri"/>
                <a:cs typeface="Calibri"/>
              </a:rPr>
              <a:t>Solver::analyze()</a:t>
            </a:r>
            <a:r>
              <a:rPr dirty="0" sz="900" spc="310" i="1">
                <a:latin typeface="Calibri"/>
                <a:cs typeface="Calibri"/>
              </a:rPr>
              <a:t> </a:t>
            </a:r>
            <a:r>
              <a:rPr dirty="0" sz="900" spc="110" i="1">
                <a:latin typeface="Calibri"/>
                <a:cs typeface="Calibri"/>
              </a:rPr>
              <a:t>after</a:t>
            </a:r>
            <a:r>
              <a:rPr dirty="0" sz="900" spc="310" i="1">
                <a:latin typeface="Calibri"/>
                <a:cs typeface="Calibri"/>
              </a:rPr>
              <a:t> </a:t>
            </a:r>
            <a:r>
              <a:rPr dirty="0" sz="900" i="1">
                <a:latin typeface="Calibri"/>
                <a:cs typeface="Calibri"/>
              </a:rPr>
              <a:t>adding</a:t>
            </a:r>
            <a:r>
              <a:rPr dirty="0" sz="900" spc="310" i="1">
                <a:latin typeface="Calibri"/>
                <a:cs typeface="Calibri"/>
              </a:rPr>
              <a:t> </a:t>
            </a:r>
            <a:r>
              <a:rPr dirty="0" sz="900" spc="75" i="1">
                <a:latin typeface="Calibri"/>
                <a:cs typeface="Calibri"/>
              </a:rPr>
              <a:t>learned</a:t>
            </a:r>
            <a:r>
              <a:rPr dirty="0" sz="900" spc="310" i="1">
                <a:latin typeface="Calibri"/>
                <a:cs typeface="Calibri"/>
              </a:rPr>
              <a:t> </a:t>
            </a:r>
            <a:r>
              <a:rPr dirty="0" sz="900" spc="85" i="1">
                <a:latin typeface="Calibri"/>
                <a:cs typeface="Calibri"/>
              </a:rPr>
              <a:t>clause</a:t>
            </a:r>
            <a:r>
              <a:rPr dirty="0" sz="900" spc="310" i="1">
                <a:latin typeface="Calibri"/>
                <a:cs typeface="Calibri"/>
              </a:rPr>
              <a:t> </a:t>
            </a:r>
            <a:r>
              <a:rPr dirty="0" sz="900" spc="85" i="1">
                <a:latin typeface="Calibri"/>
                <a:cs typeface="Calibri"/>
              </a:rPr>
              <a:t>to</a:t>
            </a:r>
            <a:r>
              <a:rPr dirty="0" sz="900" spc="310" i="1">
                <a:latin typeface="Calibri"/>
                <a:cs typeface="Calibri"/>
              </a:rPr>
              <a:t> </a:t>
            </a:r>
            <a:r>
              <a:rPr dirty="0" sz="900" spc="110" i="1">
                <a:latin typeface="Calibri"/>
                <a:cs typeface="Calibri"/>
              </a:rPr>
              <a:t>cnf:</a:t>
            </a:r>
            <a:endParaRPr sz="900">
              <a:latin typeface="Calibri"/>
              <a:cs typeface="Calibri"/>
            </a:endParaRPr>
          </a:p>
          <a:p>
            <a:pPr marL="40005" marR="3243580">
              <a:lnSpc>
                <a:spcPct val="101499"/>
              </a:lnSpc>
            </a:pPr>
            <a:r>
              <a:rPr dirty="0" sz="900" spc="140">
                <a:latin typeface="Calibri"/>
                <a:cs typeface="Calibri"/>
              </a:rPr>
              <a:t>int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 spc="70">
                <a:latin typeface="Calibri"/>
                <a:cs typeface="Calibri"/>
              </a:rPr>
              <a:t>learned_idx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=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 spc="150">
                <a:latin typeface="Calibri"/>
                <a:cs typeface="Calibri"/>
              </a:rPr>
              <a:t>(int)cnf.size()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 spc="195">
                <a:latin typeface="Calibri"/>
                <a:cs typeface="Calibri"/>
              </a:rPr>
              <a:t>-</a:t>
            </a:r>
            <a:r>
              <a:rPr dirty="0" sz="900" spc="280">
                <a:latin typeface="Calibri"/>
                <a:cs typeface="Calibri"/>
              </a:rPr>
              <a:t> </a:t>
            </a:r>
            <a:r>
              <a:rPr dirty="0" sz="900" spc="95">
                <a:latin typeface="Calibri"/>
                <a:cs typeface="Calibri"/>
              </a:rPr>
              <a:t>1; </a:t>
            </a:r>
            <a:r>
              <a:rPr dirty="0" sz="900">
                <a:latin typeface="Calibri"/>
                <a:cs typeface="Calibri"/>
              </a:rPr>
              <a:t>Clause&amp;</a:t>
            </a:r>
            <a:r>
              <a:rPr dirty="0" sz="900" spc="360">
                <a:latin typeface="Calibri"/>
                <a:cs typeface="Calibri"/>
              </a:rPr>
              <a:t> </a:t>
            </a:r>
            <a:r>
              <a:rPr dirty="0" sz="900" spc="65">
                <a:latin typeface="Calibri"/>
                <a:cs typeface="Calibri"/>
              </a:rPr>
              <a:t>learned</a:t>
            </a:r>
            <a:r>
              <a:rPr dirty="0" sz="900" spc="36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=</a:t>
            </a:r>
            <a:r>
              <a:rPr dirty="0" sz="900" spc="360">
                <a:latin typeface="Calibri"/>
                <a:cs typeface="Calibri"/>
              </a:rPr>
              <a:t> </a:t>
            </a:r>
            <a:r>
              <a:rPr dirty="0" sz="900" spc="90">
                <a:latin typeface="Calibri"/>
                <a:cs typeface="Calibri"/>
              </a:rPr>
              <a:t>cnf[learned_idx];</a:t>
            </a:r>
            <a:endParaRPr sz="900">
              <a:latin typeface="Calibri"/>
              <a:cs typeface="Calibri"/>
            </a:endParaRPr>
          </a:p>
          <a:p>
            <a:pPr marL="255270" marR="3865245" indent="-215265">
              <a:lnSpc>
                <a:spcPct val="101499"/>
              </a:lnSpc>
              <a:spcBef>
                <a:spcPts val="1095"/>
              </a:spcBef>
            </a:pPr>
            <a:r>
              <a:rPr dirty="0" sz="900" spc="225">
                <a:latin typeface="Calibri"/>
                <a:cs typeface="Calibri"/>
              </a:rPr>
              <a:t>if</a:t>
            </a:r>
            <a:r>
              <a:rPr dirty="0" sz="900" spc="260">
                <a:latin typeface="Calibri"/>
                <a:cs typeface="Calibri"/>
              </a:rPr>
              <a:t> </a:t>
            </a:r>
            <a:r>
              <a:rPr dirty="0" sz="900" spc="75">
                <a:latin typeface="Calibri"/>
                <a:cs typeface="Calibri"/>
              </a:rPr>
              <a:t>(enable_minimization)</a:t>
            </a:r>
            <a:r>
              <a:rPr dirty="0" sz="900" spc="260">
                <a:latin typeface="Calibri"/>
                <a:cs typeface="Calibri"/>
              </a:rPr>
              <a:t> </a:t>
            </a:r>
            <a:r>
              <a:rPr dirty="0" sz="900" spc="130">
                <a:latin typeface="Calibri"/>
                <a:cs typeface="Calibri"/>
              </a:rPr>
              <a:t>{ </a:t>
            </a:r>
            <a:r>
              <a:rPr dirty="0" sz="900" spc="65">
                <a:latin typeface="Calibri"/>
                <a:cs typeface="Calibri"/>
              </a:rPr>
              <a:t>minimizeClause(learned);</a:t>
            </a:r>
            <a:endParaRPr sz="900">
              <a:latin typeface="Calibri"/>
              <a:cs typeface="Calibri"/>
            </a:endParaRPr>
          </a:p>
          <a:p>
            <a:pPr marL="40005">
              <a:lnSpc>
                <a:spcPct val="100000"/>
              </a:lnSpc>
              <a:spcBef>
                <a:spcPts val="15"/>
              </a:spcBef>
            </a:pPr>
            <a:r>
              <a:rPr dirty="0" sz="900" spc="130">
                <a:latin typeface="Calibri"/>
                <a:cs typeface="Calibri"/>
              </a:rPr>
              <a:t>}</a:t>
            </a:r>
            <a:endParaRPr sz="900">
              <a:latin typeface="Calibri"/>
              <a:cs typeface="Calibri"/>
            </a:endParaRPr>
          </a:p>
          <a:p>
            <a:pPr marL="40005" marR="3362960">
              <a:lnSpc>
                <a:spcPct val="101499"/>
              </a:lnSpc>
              <a:spcBef>
                <a:spcPts val="1095"/>
              </a:spcBef>
            </a:pPr>
            <a:r>
              <a:rPr dirty="0" sz="900" spc="140">
                <a:latin typeface="Calibri"/>
                <a:cs typeface="Calibri"/>
              </a:rPr>
              <a:t>int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 spc="70">
                <a:latin typeface="Calibri"/>
                <a:cs typeface="Calibri"/>
              </a:rPr>
              <a:t>lbd_value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=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 spc="40">
                <a:latin typeface="Calibri"/>
                <a:cs typeface="Calibri"/>
              </a:rPr>
              <a:t>computeLBD(learned); </a:t>
            </a:r>
            <a:r>
              <a:rPr dirty="0" sz="900" spc="80">
                <a:latin typeface="Calibri"/>
                <a:cs typeface="Calibri"/>
              </a:rPr>
              <a:t>learned.set_lbd(lbd_value);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Calibri"/>
              <a:cs typeface="Calibri"/>
            </a:endParaRPr>
          </a:p>
          <a:p>
            <a:pPr marL="40005">
              <a:lnSpc>
                <a:spcPct val="100000"/>
              </a:lnSpc>
            </a:pPr>
            <a:r>
              <a:rPr dirty="0" sz="900" spc="80">
                <a:latin typeface="Calibri"/>
                <a:cs typeface="Calibri"/>
              </a:rPr>
              <a:t>updateLBDStatistics(lbd_value);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261361" y="3135783"/>
            <a:ext cx="12376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Add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5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LBD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information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about</a:t>
            </a:r>
            <a:r>
              <a:rPr dirty="0" sz="600" spc="3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clauses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Locked</a:t>
            </a:r>
            <a:r>
              <a:rPr dirty="0" spc="-50"/>
              <a:t> clause</a:t>
            </a:r>
            <a:r>
              <a:rPr dirty="0" spc="-45"/>
              <a:t> </a:t>
            </a:r>
            <a:r>
              <a:rPr dirty="0" spc="-30"/>
              <a:t>protection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8056" y="952601"/>
            <a:ext cx="5564505" cy="133413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wrap="square" lIns="0" tIns="21590" rIns="0" bIns="0" rtlCol="0" vert="horz">
            <a:spAutoFit/>
          </a:bodyPr>
          <a:lstStyle/>
          <a:p>
            <a:pPr marL="255270" marR="2729865" indent="-215265">
              <a:lnSpc>
                <a:spcPct val="101499"/>
              </a:lnSpc>
              <a:spcBef>
                <a:spcPts val="170"/>
              </a:spcBef>
            </a:pPr>
            <a:r>
              <a:rPr dirty="0" sz="900" spc="55">
                <a:latin typeface="Calibri"/>
                <a:cs typeface="Calibri"/>
              </a:rPr>
              <a:t>bool</a:t>
            </a:r>
            <a:r>
              <a:rPr dirty="0" sz="900" spc="290">
                <a:latin typeface="Calibri"/>
                <a:cs typeface="Calibri"/>
              </a:rPr>
              <a:t> </a:t>
            </a:r>
            <a:r>
              <a:rPr dirty="0" sz="900" spc="100">
                <a:latin typeface="Calibri"/>
                <a:cs typeface="Calibri"/>
              </a:rPr>
              <a:t>Solver::isClauseLocked(int</a:t>
            </a:r>
            <a:r>
              <a:rPr dirty="0" sz="900" spc="290">
                <a:latin typeface="Calibri"/>
                <a:cs typeface="Calibri"/>
              </a:rPr>
              <a:t> </a:t>
            </a:r>
            <a:r>
              <a:rPr dirty="0" sz="900" spc="95">
                <a:latin typeface="Calibri"/>
                <a:cs typeface="Calibri"/>
              </a:rPr>
              <a:t>clause_idx)</a:t>
            </a:r>
            <a:r>
              <a:rPr dirty="0" sz="900" spc="290">
                <a:latin typeface="Calibri"/>
                <a:cs typeface="Calibri"/>
              </a:rPr>
              <a:t> </a:t>
            </a:r>
            <a:r>
              <a:rPr dirty="0" sz="900" spc="130">
                <a:latin typeface="Calibri"/>
                <a:cs typeface="Calibri"/>
              </a:rPr>
              <a:t>{ </a:t>
            </a:r>
            <a:r>
              <a:rPr dirty="0" sz="900" spc="110">
                <a:latin typeface="Calibri"/>
                <a:cs typeface="Calibri"/>
              </a:rPr>
              <a:t>for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 spc="65">
                <a:latin typeface="Calibri"/>
                <a:cs typeface="Calibri"/>
              </a:rPr>
              <a:t>(unsigned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 spc="140">
                <a:latin typeface="Calibri"/>
                <a:cs typeface="Calibri"/>
              </a:rPr>
              <a:t>int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 spc="55">
                <a:latin typeface="Calibri"/>
                <a:cs typeface="Calibri"/>
              </a:rPr>
              <a:t>v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=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 spc="120">
                <a:latin typeface="Calibri"/>
                <a:cs typeface="Calibri"/>
              </a:rPr>
              <a:t>1;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 spc="55">
                <a:latin typeface="Calibri"/>
                <a:cs typeface="Calibri"/>
              </a:rPr>
              <a:t>v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&lt;=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 spc="95">
                <a:latin typeface="Calibri"/>
                <a:cs typeface="Calibri"/>
              </a:rPr>
              <a:t>nvars;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 spc="70">
                <a:latin typeface="Calibri"/>
                <a:cs typeface="Calibri"/>
              </a:rPr>
              <a:t>++v)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 spc="130">
                <a:latin typeface="Calibri"/>
                <a:cs typeface="Calibri"/>
              </a:rPr>
              <a:t>{</a:t>
            </a:r>
            <a:endParaRPr sz="900">
              <a:latin typeface="Calibri"/>
              <a:cs typeface="Calibri"/>
            </a:endParaRPr>
          </a:p>
          <a:p>
            <a:pPr marL="685800" marR="2633980" indent="-215265">
              <a:lnSpc>
                <a:spcPct val="101499"/>
              </a:lnSpc>
            </a:pPr>
            <a:r>
              <a:rPr dirty="0" sz="900" spc="225">
                <a:latin typeface="Calibri"/>
                <a:cs typeface="Calibri"/>
              </a:rPr>
              <a:t>if</a:t>
            </a:r>
            <a:r>
              <a:rPr dirty="0" sz="900" spc="370">
                <a:latin typeface="Calibri"/>
                <a:cs typeface="Calibri"/>
              </a:rPr>
              <a:t> </a:t>
            </a:r>
            <a:r>
              <a:rPr dirty="0" sz="900" spc="125">
                <a:latin typeface="Calibri"/>
                <a:cs typeface="Calibri"/>
              </a:rPr>
              <a:t>(state[v]</a:t>
            </a:r>
            <a:r>
              <a:rPr dirty="0" sz="900" spc="375">
                <a:latin typeface="Calibri"/>
                <a:cs typeface="Calibri"/>
              </a:rPr>
              <a:t> </a:t>
            </a:r>
            <a:r>
              <a:rPr dirty="0" sz="900" spc="95">
                <a:latin typeface="Calibri"/>
                <a:cs typeface="Calibri"/>
              </a:rPr>
              <a:t>!=</a:t>
            </a:r>
            <a:r>
              <a:rPr dirty="0" sz="900" spc="375">
                <a:latin typeface="Calibri"/>
                <a:cs typeface="Calibri"/>
              </a:rPr>
              <a:t> </a:t>
            </a:r>
            <a:r>
              <a:rPr dirty="0" sz="900" spc="20">
                <a:latin typeface="Calibri"/>
                <a:cs typeface="Calibri"/>
              </a:rPr>
              <a:t>VarState::V_UNASSIGNED</a:t>
            </a:r>
            <a:r>
              <a:rPr dirty="0" sz="900" spc="375">
                <a:latin typeface="Calibri"/>
                <a:cs typeface="Calibri"/>
              </a:rPr>
              <a:t> </a:t>
            </a:r>
            <a:r>
              <a:rPr dirty="0" sz="900" spc="-95">
                <a:latin typeface="Calibri"/>
                <a:cs typeface="Calibri"/>
              </a:rPr>
              <a:t>&amp;&amp;</a:t>
            </a:r>
            <a:r>
              <a:rPr dirty="0" sz="900" spc="75">
                <a:latin typeface="Calibri"/>
                <a:cs typeface="Calibri"/>
              </a:rPr>
              <a:t> antecedent[v]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==</a:t>
            </a:r>
            <a:r>
              <a:rPr dirty="0" sz="900" spc="280">
                <a:latin typeface="Calibri"/>
                <a:cs typeface="Calibri"/>
              </a:rPr>
              <a:t> </a:t>
            </a:r>
            <a:r>
              <a:rPr dirty="0" sz="900" spc="95">
                <a:latin typeface="Calibri"/>
                <a:cs typeface="Calibri"/>
              </a:rPr>
              <a:t>clause_idx)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 spc="130">
                <a:latin typeface="Calibri"/>
                <a:cs typeface="Calibri"/>
              </a:rPr>
              <a:t>{</a:t>
            </a:r>
            <a:endParaRPr sz="900">
              <a:latin typeface="Calibri"/>
              <a:cs typeface="Calibri"/>
            </a:endParaRPr>
          </a:p>
          <a:p>
            <a:pPr marL="685800">
              <a:lnSpc>
                <a:spcPct val="100000"/>
              </a:lnSpc>
              <a:spcBef>
                <a:spcPts val="15"/>
              </a:spcBef>
            </a:pPr>
            <a:r>
              <a:rPr dirty="0" sz="900" spc="80">
                <a:latin typeface="Calibri"/>
                <a:cs typeface="Calibri"/>
              </a:rPr>
              <a:t>return</a:t>
            </a:r>
            <a:r>
              <a:rPr dirty="0" sz="900" spc="265">
                <a:latin typeface="Calibri"/>
                <a:cs typeface="Calibri"/>
              </a:rPr>
              <a:t> </a:t>
            </a:r>
            <a:r>
              <a:rPr dirty="0" sz="900" spc="100">
                <a:latin typeface="Calibri"/>
                <a:cs typeface="Calibri"/>
              </a:rPr>
              <a:t>true;</a:t>
            </a:r>
            <a:endParaRPr sz="900">
              <a:latin typeface="Calibri"/>
              <a:cs typeface="Calibri"/>
            </a:endParaRPr>
          </a:p>
          <a:p>
            <a:pPr marL="470534">
              <a:lnSpc>
                <a:spcPct val="100000"/>
              </a:lnSpc>
              <a:spcBef>
                <a:spcPts val="15"/>
              </a:spcBef>
            </a:pPr>
            <a:r>
              <a:rPr dirty="0" sz="900" spc="130">
                <a:latin typeface="Calibri"/>
                <a:cs typeface="Calibri"/>
              </a:rPr>
              <a:t>}</a:t>
            </a:r>
            <a:endParaRPr sz="900">
              <a:latin typeface="Calibri"/>
              <a:cs typeface="Calibri"/>
            </a:endParaRPr>
          </a:p>
          <a:p>
            <a:pPr marL="255270">
              <a:lnSpc>
                <a:spcPct val="100000"/>
              </a:lnSpc>
              <a:spcBef>
                <a:spcPts val="15"/>
              </a:spcBef>
            </a:pPr>
            <a:r>
              <a:rPr dirty="0" sz="900" spc="130">
                <a:latin typeface="Calibri"/>
                <a:cs typeface="Calibri"/>
              </a:rPr>
              <a:t>}</a:t>
            </a:r>
            <a:endParaRPr sz="900">
              <a:latin typeface="Calibri"/>
              <a:cs typeface="Calibri"/>
            </a:endParaRPr>
          </a:p>
          <a:p>
            <a:pPr marL="255270">
              <a:lnSpc>
                <a:spcPct val="100000"/>
              </a:lnSpc>
              <a:spcBef>
                <a:spcPts val="15"/>
              </a:spcBef>
            </a:pPr>
            <a:r>
              <a:rPr dirty="0" sz="900" spc="80">
                <a:latin typeface="Calibri"/>
                <a:cs typeface="Calibri"/>
              </a:rPr>
              <a:t>return</a:t>
            </a:r>
            <a:r>
              <a:rPr dirty="0" sz="900" spc="265">
                <a:latin typeface="Calibri"/>
                <a:cs typeface="Calibri"/>
              </a:rPr>
              <a:t> </a:t>
            </a:r>
            <a:r>
              <a:rPr dirty="0" sz="900" spc="130">
                <a:latin typeface="Calibri"/>
                <a:cs typeface="Calibri"/>
              </a:rPr>
              <a:t>false;</a:t>
            </a:r>
            <a:endParaRPr sz="900">
              <a:latin typeface="Calibri"/>
              <a:cs typeface="Calibri"/>
            </a:endParaRPr>
          </a:p>
          <a:p>
            <a:pPr marL="40005">
              <a:lnSpc>
                <a:spcPct val="100000"/>
              </a:lnSpc>
              <a:spcBef>
                <a:spcPts val="15"/>
              </a:spcBef>
            </a:pPr>
            <a:r>
              <a:rPr dirty="0" sz="900" spc="130">
                <a:latin typeface="Calibri"/>
                <a:cs typeface="Calibri"/>
              </a:rPr>
              <a:t>}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261361" y="3135783"/>
            <a:ext cx="12376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Add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5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LBD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information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about</a:t>
            </a:r>
            <a:r>
              <a:rPr dirty="0" sz="600" spc="3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clauses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LBD-</a:t>
            </a:r>
            <a:r>
              <a:rPr dirty="0"/>
              <a:t>based</a:t>
            </a:r>
            <a:r>
              <a:rPr dirty="0" spc="-50"/>
              <a:t> </a:t>
            </a:r>
            <a:r>
              <a:rPr dirty="0" spc="-45"/>
              <a:t>deletion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2989" y="661073"/>
            <a:ext cx="5574030" cy="2275205"/>
            <a:chOff x="92989" y="661073"/>
            <a:chExt cx="5574030" cy="2275205"/>
          </a:xfrm>
        </p:grpSpPr>
        <p:sp>
          <p:nvSpPr>
            <p:cNvPr id="4" name="object 4" descr=""/>
            <p:cNvSpPr/>
            <p:nvPr/>
          </p:nvSpPr>
          <p:spPr>
            <a:xfrm>
              <a:off x="98056" y="663613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5529" y="666140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 h="0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38544" y="666140"/>
              <a:ext cx="5483225" cy="0"/>
            </a:xfrm>
            <a:custGeom>
              <a:avLst/>
              <a:gdLst/>
              <a:ahLst/>
              <a:cxnLst/>
              <a:rect l="l" t="t" r="r" b="b"/>
              <a:pathLst>
                <a:path w="5483225" h="0">
                  <a:moveTo>
                    <a:pt x="0" y="0"/>
                  </a:moveTo>
                  <a:lnTo>
                    <a:pt x="548290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621451" y="666140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 h="0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661939" y="663613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8056" y="706627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661939" y="706627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8056" y="845807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661939" y="845807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8056" y="98498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661939" y="98498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8056" y="112416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661939" y="112416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8056" y="126334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661939" y="126334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8056" y="1402524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661939" y="1402524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8056" y="1541691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661939" y="1541691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8056" y="1680870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661939" y="1680870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8056" y="182004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661939" y="182004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8056" y="195922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661939" y="195922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8056" y="2098408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661939" y="2098408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8056" y="2237587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661939" y="2237587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8056" y="237676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661939" y="237676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98056" y="251594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661939" y="251594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98056" y="265512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661939" y="265512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98056" y="2794304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661939" y="2794304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w="0"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25844" y="423797"/>
            <a:ext cx="3684270" cy="25038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Keep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glue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(LBD¡=2),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delete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worst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fraction,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skip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locked.</a:t>
            </a:r>
            <a:endParaRPr sz="1100">
              <a:latin typeface="Tahoma"/>
              <a:cs typeface="Tahoma"/>
            </a:endParaRPr>
          </a:p>
          <a:p>
            <a:pPr marL="227329" marR="1355725" indent="-215265">
              <a:lnSpc>
                <a:spcPct val="101499"/>
              </a:lnSpc>
              <a:spcBef>
                <a:spcPts val="665"/>
              </a:spcBef>
            </a:pPr>
            <a:r>
              <a:rPr dirty="0" sz="900" spc="70">
                <a:latin typeface="Calibri"/>
                <a:cs typeface="Calibri"/>
              </a:rPr>
              <a:t>void</a:t>
            </a:r>
            <a:r>
              <a:rPr dirty="0" sz="900" spc="290">
                <a:latin typeface="Calibri"/>
                <a:cs typeface="Calibri"/>
              </a:rPr>
              <a:t> </a:t>
            </a:r>
            <a:r>
              <a:rPr dirty="0" sz="900" spc="80">
                <a:latin typeface="Calibri"/>
                <a:cs typeface="Calibri"/>
              </a:rPr>
              <a:t>Solver::deleteLowLBDClauses()</a:t>
            </a:r>
            <a:r>
              <a:rPr dirty="0" sz="900" spc="295">
                <a:latin typeface="Calibri"/>
                <a:cs typeface="Calibri"/>
              </a:rPr>
              <a:t> </a:t>
            </a:r>
            <a:r>
              <a:rPr dirty="0" sz="900" spc="130">
                <a:latin typeface="Calibri"/>
                <a:cs typeface="Calibri"/>
              </a:rPr>
              <a:t>{ </a:t>
            </a:r>
            <a:r>
              <a:rPr dirty="0" sz="900" spc="140">
                <a:latin typeface="Calibri"/>
                <a:cs typeface="Calibri"/>
              </a:rPr>
              <a:t>int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 spc="130">
                <a:latin typeface="Calibri"/>
                <a:cs typeface="Calibri"/>
              </a:rPr>
              <a:t>start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=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 spc="50">
                <a:latin typeface="Calibri"/>
                <a:cs typeface="Calibri"/>
              </a:rPr>
              <a:t>num_clauses_at_startup;</a:t>
            </a:r>
            <a:endParaRPr sz="900">
              <a:latin typeface="Calibri"/>
              <a:cs typeface="Calibri"/>
            </a:endParaRPr>
          </a:p>
          <a:p>
            <a:pPr marL="227329">
              <a:lnSpc>
                <a:spcPct val="100000"/>
              </a:lnSpc>
              <a:spcBef>
                <a:spcPts val="15"/>
              </a:spcBef>
            </a:pPr>
            <a:r>
              <a:rPr dirty="0" sz="900" spc="95">
                <a:latin typeface="Calibri"/>
                <a:cs typeface="Calibri"/>
              </a:rPr>
              <a:t>vector&lt;pair&lt;int,int&gt;&gt;</a:t>
            </a:r>
            <a:r>
              <a:rPr dirty="0" sz="900" spc="290">
                <a:latin typeface="Calibri"/>
                <a:cs typeface="Calibri"/>
              </a:rPr>
              <a:t> </a:t>
            </a:r>
            <a:r>
              <a:rPr dirty="0" sz="900" spc="70">
                <a:latin typeface="Calibri"/>
                <a:cs typeface="Calibri"/>
              </a:rPr>
              <a:t>cand;</a:t>
            </a:r>
            <a:r>
              <a:rPr dirty="0" sz="900" spc="290">
                <a:latin typeface="Calibri"/>
                <a:cs typeface="Calibri"/>
              </a:rPr>
              <a:t> </a:t>
            </a:r>
            <a:r>
              <a:rPr dirty="0" sz="900" spc="114" i="1">
                <a:latin typeface="Calibri"/>
                <a:cs typeface="Calibri"/>
              </a:rPr>
              <a:t>//</a:t>
            </a:r>
            <a:r>
              <a:rPr dirty="0" sz="900" spc="295" i="1">
                <a:latin typeface="Calibri"/>
                <a:cs typeface="Calibri"/>
              </a:rPr>
              <a:t> </a:t>
            </a:r>
            <a:r>
              <a:rPr dirty="0" sz="900" spc="85" i="1">
                <a:latin typeface="Calibri"/>
                <a:cs typeface="Calibri"/>
              </a:rPr>
              <a:t>(LBD,</a:t>
            </a:r>
            <a:r>
              <a:rPr dirty="0" sz="900" spc="290" i="1">
                <a:latin typeface="Calibri"/>
                <a:cs typeface="Calibri"/>
              </a:rPr>
              <a:t> </a:t>
            </a:r>
            <a:r>
              <a:rPr dirty="0" sz="900" spc="110" i="1">
                <a:latin typeface="Calibri"/>
                <a:cs typeface="Calibri"/>
              </a:rPr>
              <a:t>idx)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 marL="442595" marR="638175" indent="-215265">
              <a:lnSpc>
                <a:spcPct val="101499"/>
              </a:lnSpc>
            </a:pPr>
            <a:r>
              <a:rPr dirty="0" sz="900" spc="110">
                <a:latin typeface="Calibri"/>
                <a:cs typeface="Calibri"/>
              </a:rPr>
              <a:t>for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 spc="150">
                <a:latin typeface="Calibri"/>
                <a:cs typeface="Calibri"/>
              </a:rPr>
              <a:t>(int</a:t>
            </a:r>
            <a:r>
              <a:rPr dirty="0" sz="900" spc="280">
                <a:latin typeface="Calibri"/>
                <a:cs typeface="Calibri"/>
              </a:rPr>
              <a:t> </a:t>
            </a:r>
            <a:r>
              <a:rPr dirty="0" sz="900" spc="254">
                <a:latin typeface="Calibri"/>
                <a:cs typeface="Calibri"/>
              </a:rPr>
              <a:t>i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=</a:t>
            </a:r>
            <a:r>
              <a:rPr dirty="0" sz="900" spc="280">
                <a:latin typeface="Calibri"/>
                <a:cs typeface="Calibri"/>
              </a:rPr>
              <a:t> </a:t>
            </a:r>
            <a:r>
              <a:rPr dirty="0" sz="900" spc="145">
                <a:latin typeface="Calibri"/>
                <a:cs typeface="Calibri"/>
              </a:rPr>
              <a:t>start;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 spc="254">
                <a:latin typeface="Calibri"/>
                <a:cs typeface="Calibri"/>
              </a:rPr>
              <a:t>i</a:t>
            </a:r>
            <a:r>
              <a:rPr dirty="0" sz="900" spc="28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&lt;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 spc="150">
                <a:latin typeface="Calibri"/>
                <a:cs typeface="Calibri"/>
              </a:rPr>
              <a:t>(int)cnf.size();</a:t>
            </a:r>
            <a:r>
              <a:rPr dirty="0" sz="900" spc="280">
                <a:latin typeface="Calibri"/>
                <a:cs typeface="Calibri"/>
              </a:rPr>
              <a:t> </a:t>
            </a:r>
            <a:r>
              <a:rPr dirty="0" sz="900" spc="120">
                <a:latin typeface="Calibri"/>
                <a:cs typeface="Calibri"/>
              </a:rPr>
              <a:t>++i)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 spc="130">
                <a:latin typeface="Calibri"/>
                <a:cs typeface="Calibri"/>
              </a:rPr>
              <a:t>{ </a:t>
            </a:r>
            <a:r>
              <a:rPr dirty="0" sz="900" spc="225">
                <a:latin typeface="Calibri"/>
                <a:cs typeface="Calibri"/>
              </a:rPr>
              <a:t>if</a:t>
            </a:r>
            <a:r>
              <a:rPr dirty="0" sz="900" spc="270">
                <a:latin typeface="Calibri"/>
                <a:cs typeface="Calibri"/>
              </a:rPr>
              <a:t> </a:t>
            </a:r>
            <a:r>
              <a:rPr dirty="0" sz="900" spc="110">
                <a:latin typeface="Calibri"/>
                <a:cs typeface="Calibri"/>
              </a:rPr>
              <a:t>(isClauseLocked(i))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 spc="70">
                <a:latin typeface="Calibri"/>
                <a:cs typeface="Calibri"/>
              </a:rPr>
              <a:t>continue;</a:t>
            </a:r>
            <a:endParaRPr sz="900">
              <a:latin typeface="Calibri"/>
              <a:cs typeface="Calibri"/>
            </a:endParaRPr>
          </a:p>
          <a:p>
            <a:pPr marL="442595">
              <a:lnSpc>
                <a:spcPct val="100000"/>
              </a:lnSpc>
              <a:spcBef>
                <a:spcPts val="15"/>
              </a:spcBef>
            </a:pPr>
            <a:r>
              <a:rPr dirty="0" sz="900">
                <a:latin typeface="Calibri"/>
                <a:cs typeface="Calibri"/>
              </a:rPr>
              <a:t>Clause&amp;</a:t>
            </a:r>
            <a:r>
              <a:rPr dirty="0" sz="900" spc="355">
                <a:latin typeface="Calibri"/>
                <a:cs typeface="Calibri"/>
              </a:rPr>
              <a:t> </a:t>
            </a:r>
            <a:r>
              <a:rPr dirty="0" sz="900" spc="90">
                <a:latin typeface="Calibri"/>
                <a:cs typeface="Calibri"/>
              </a:rPr>
              <a:t>c</a:t>
            </a:r>
            <a:r>
              <a:rPr dirty="0" sz="900" spc="35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=</a:t>
            </a:r>
            <a:r>
              <a:rPr dirty="0" sz="900" spc="360">
                <a:latin typeface="Calibri"/>
                <a:cs typeface="Calibri"/>
              </a:rPr>
              <a:t> </a:t>
            </a:r>
            <a:r>
              <a:rPr dirty="0" sz="900" spc="155">
                <a:latin typeface="Calibri"/>
                <a:cs typeface="Calibri"/>
              </a:rPr>
              <a:t>cnf[i];</a:t>
            </a:r>
            <a:endParaRPr sz="900">
              <a:latin typeface="Calibri"/>
              <a:cs typeface="Calibri"/>
            </a:endParaRPr>
          </a:p>
          <a:p>
            <a:pPr marL="442595">
              <a:lnSpc>
                <a:spcPct val="100000"/>
              </a:lnSpc>
              <a:spcBef>
                <a:spcPts val="15"/>
              </a:spcBef>
            </a:pPr>
            <a:r>
              <a:rPr dirty="0" sz="900" spc="225">
                <a:latin typeface="Calibri"/>
                <a:cs typeface="Calibri"/>
              </a:rPr>
              <a:t>if</a:t>
            </a:r>
            <a:r>
              <a:rPr dirty="0" sz="900" spc="260">
                <a:latin typeface="Calibri"/>
                <a:cs typeface="Calibri"/>
              </a:rPr>
              <a:t> </a:t>
            </a:r>
            <a:r>
              <a:rPr dirty="0" sz="900" spc="114">
                <a:latin typeface="Calibri"/>
                <a:cs typeface="Calibri"/>
              </a:rPr>
              <a:t>(c.get_lbd()</a:t>
            </a:r>
            <a:r>
              <a:rPr dirty="0" sz="900" spc="26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&gt;</a:t>
            </a:r>
            <a:r>
              <a:rPr dirty="0" sz="900" spc="26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2</a:t>
            </a:r>
            <a:r>
              <a:rPr dirty="0" sz="900" spc="260">
                <a:latin typeface="Calibri"/>
                <a:cs typeface="Calibri"/>
              </a:rPr>
              <a:t> </a:t>
            </a:r>
            <a:r>
              <a:rPr dirty="0" sz="900" spc="-75">
                <a:latin typeface="Calibri"/>
                <a:cs typeface="Calibri"/>
              </a:rPr>
              <a:t>&amp;&amp;</a:t>
            </a:r>
            <a:r>
              <a:rPr dirty="0" sz="900" spc="260">
                <a:latin typeface="Calibri"/>
                <a:cs typeface="Calibri"/>
              </a:rPr>
              <a:t> </a:t>
            </a:r>
            <a:r>
              <a:rPr dirty="0" sz="900" spc="150">
                <a:latin typeface="Calibri"/>
                <a:cs typeface="Calibri"/>
              </a:rPr>
              <a:t>c.size()</a:t>
            </a:r>
            <a:r>
              <a:rPr dirty="0" sz="900" spc="26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&gt;</a:t>
            </a:r>
            <a:r>
              <a:rPr dirty="0" sz="900" spc="260">
                <a:latin typeface="Calibri"/>
                <a:cs typeface="Calibri"/>
              </a:rPr>
              <a:t> </a:t>
            </a:r>
            <a:r>
              <a:rPr dirty="0" sz="900" spc="105">
                <a:latin typeface="Calibri"/>
                <a:cs typeface="Calibri"/>
              </a:rPr>
              <a:t>2)</a:t>
            </a:r>
            <a:r>
              <a:rPr dirty="0" sz="900" spc="260">
                <a:latin typeface="Calibri"/>
                <a:cs typeface="Calibri"/>
              </a:rPr>
              <a:t> </a:t>
            </a:r>
            <a:r>
              <a:rPr dirty="0" sz="900" spc="180">
                <a:latin typeface="Calibri"/>
                <a:cs typeface="Calibri"/>
              </a:rPr>
              <a:t>{</a:t>
            </a:r>
            <a:r>
              <a:rPr dirty="0" sz="900" spc="260">
                <a:latin typeface="Calibri"/>
                <a:cs typeface="Calibri"/>
              </a:rPr>
              <a:t> </a:t>
            </a:r>
            <a:r>
              <a:rPr dirty="0" sz="900" spc="114" i="1">
                <a:latin typeface="Calibri"/>
                <a:cs typeface="Calibri"/>
              </a:rPr>
              <a:t>//</a:t>
            </a:r>
            <a:r>
              <a:rPr dirty="0" sz="900" spc="260" i="1">
                <a:latin typeface="Calibri"/>
                <a:cs typeface="Calibri"/>
              </a:rPr>
              <a:t> </a:t>
            </a:r>
            <a:r>
              <a:rPr dirty="0" sz="900" spc="90" i="1">
                <a:latin typeface="Calibri"/>
                <a:cs typeface="Calibri"/>
              </a:rPr>
              <a:t>protect</a:t>
            </a:r>
            <a:r>
              <a:rPr dirty="0" sz="900" spc="260" i="1">
                <a:latin typeface="Calibri"/>
                <a:cs typeface="Calibri"/>
              </a:rPr>
              <a:t> </a:t>
            </a:r>
            <a:r>
              <a:rPr dirty="0" sz="900" spc="55" i="1">
                <a:latin typeface="Calibri"/>
                <a:cs typeface="Calibri"/>
              </a:rPr>
              <a:t>glue</a:t>
            </a:r>
            <a:endParaRPr sz="900">
              <a:latin typeface="Calibri"/>
              <a:cs typeface="Calibri"/>
            </a:endParaRPr>
          </a:p>
          <a:p>
            <a:pPr marL="657860">
              <a:lnSpc>
                <a:spcPct val="100000"/>
              </a:lnSpc>
              <a:spcBef>
                <a:spcPts val="15"/>
              </a:spcBef>
            </a:pPr>
            <a:r>
              <a:rPr dirty="0" sz="900" spc="90">
                <a:latin typeface="Calibri"/>
                <a:cs typeface="Calibri"/>
              </a:rPr>
              <a:t>cand.push_back({c.get_lbd(),</a:t>
            </a:r>
            <a:r>
              <a:rPr dirty="0" sz="900" spc="285">
                <a:latin typeface="Calibri"/>
                <a:cs typeface="Calibri"/>
              </a:rPr>
              <a:t> </a:t>
            </a:r>
            <a:r>
              <a:rPr dirty="0" sz="900" spc="195">
                <a:latin typeface="Calibri"/>
                <a:cs typeface="Calibri"/>
              </a:rPr>
              <a:t>i});</a:t>
            </a:r>
            <a:endParaRPr sz="900">
              <a:latin typeface="Calibri"/>
              <a:cs typeface="Calibri"/>
            </a:endParaRPr>
          </a:p>
          <a:p>
            <a:pPr marL="442595">
              <a:lnSpc>
                <a:spcPct val="100000"/>
              </a:lnSpc>
              <a:spcBef>
                <a:spcPts val="20"/>
              </a:spcBef>
            </a:pPr>
            <a:r>
              <a:rPr dirty="0" sz="900" spc="130">
                <a:latin typeface="Calibri"/>
                <a:cs typeface="Calibri"/>
              </a:rPr>
              <a:t>}</a:t>
            </a:r>
            <a:endParaRPr sz="900">
              <a:latin typeface="Calibri"/>
              <a:cs typeface="Calibri"/>
            </a:endParaRPr>
          </a:p>
          <a:p>
            <a:pPr marL="227329">
              <a:lnSpc>
                <a:spcPct val="100000"/>
              </a:lnSpc>
              <a:spcBef>
                <a:spcPts val="15"/>
              </a:spcBef>
            </a:pPr>
            <a:r>
              <a:rPr dirty="0" sz="900" spc="130">
                <a:latin typeface="Calibri"/>
                <a:cs typeface="Calibri"/>
              </a:rPr>
              <a:t>}</a:t>
            </a:r>
            <a:endParaRPr sz="900">
              <a:latin typeface="Calibri"/>
              <a:cs typeface="Calibri"/>
            </a:endParaRPr>
          </a:p>
          <a:p>
            <a:pPr marL="227329" marR="40640">
              <a:lnSpc>
                <a:spcPct val="101499"/>
              </a:lnSpc>
              <a:spcBef>
                <a:spcPts val="1095"/>
              </a:spcBef>
            </a:pPr>
            <a:r>
              <a:rPr dirty="0" sz="900" spc="105">
                <a:latin typeface="Calibri"/>
                <a:cs typeface="Calibri"/>
              </a:rPr>
              <a:t>sort(cand.begin(),</a:t>
            </a:r>
            <a:r>
              <a:rPr dirty="0" sz="900" spc="290">
                <a:latin typeface="Calibri"/>
                <a:cs typeface="Calibri"/>
              </a:rPr>
              <a:t> </a:t>
            </a:r>
            <a:r>
              <a:rPr dirty="0" sz="900" spc="90">
                <a:latin typeface="Calibri"/>
                <a:cs typeface="Calibri"/>
              </a:rPr>
              <a:t>cand.end(),</a:t>
            </a:r>
            <a:r>
              <a:rPr dirty="0" sz="900" spc="295">
                <a:latin typeface="Calibri"/>
                <a:cs typeface="Calibri"/>
              </a:rPr>
              <a:t> </a:t>
            </a:r>
            <a:r>
              <a:rPr dirty="0" sz="900" spc="105">
                <a:latin typeface="Calibri"/>
                <a:cs typeface="Calibri"/>
              </a:rPr>
              <a:t>greater&lt;pair&lt;int,int&gt;&gt;()); </a:t>
            </a:r>
            <a:r>
              <a:rPr dirty="0" sz="900" spc="140">
                <a:latin typeface="Calibri"/>
                <a:cs typeface="Calibri"/>
              </a:rPr>
              <a:t>int</a:t>
            </a:r>
            <a:r>
              <a:rPr dirty="0" sz="900" spc="280">
                <a:latin typeface="Calibri"/>
                <a:cs typeface="Calibri"/>
              </a:rPr>
              <a:t> </a:t>
            </a:r>
            <a:r>
              <a:rPr dirty="0" sz="900" spc="90">
                <a:latin typeface="Calibri"/>
                <a:cs typeface="Calibri"/>
              </a:rPr>
              <a:t>del</a:t>
            </a:r>
            <a:r>
              <a:rPr dirty="0" sz="900" spc="28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=</a:t>
            </a:r>
            <a:r>
              <a:rPr dirty="0" sz="900" spc="280">
                <a:latin typeface="Calibri"/>
                <a:cs typeface="Calibri"/>
              </a:rPr>
              <a:t> </a:t>
            </a:r>
            <a:r>
              <a:rPr dirty="0" sz="900" spc="50">
                <a:latin typeface="Calibri"/>
                <a:cs typeface="Calibri"/>
              </a:rPr>
              <a:t>max(1,</a:t>
            </a:r>
            <a:r>
              <a:rPr dirty="0" sz="900" spc="285">
                <a:latin typeface="Calibri"/>
                <a:cs typeface="Calibri"/>
              </a:rPr>
              <a:t> </a:t>
            </a:r>
            <a:r>
              <a:rPr dirty="0" sz="900" spc="130">
                <a:latin typeface="Calibri"/>
                <a:cs typeface="Calibri"/>
              </a:rPr>
              <a:t>(int)(cand.size()</a:t>
            </a:r>
            <a:r>
              <a:rPr dirty="0" sz="900" spc="28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*</a:t>
            </a:r>
            <a:r>
              <a:rPr dirty="0" sz="900" spc="285">
                <a:latin typeface="Calibri"/>
                <a:cs typeface="Calibri"/>
              </a:rPr>
              <a:t> </a:t>
            </a:r>
            <a:r>
              <a:rPr dirty="0" sz="900" spc="135">
                <a:latin typeface="Calibri"/>
                <a:cs typeface="Calibri"/>
              </a:rPr>
              <a:t>0.3));</a:t>
            </a:r>
            <a:endParaRPr sz="900">
              <a:latin typeface="Calibri"/>
              <a:cs typeface="Calibri"/>
            </a:endParaRPr>
          </a:p>
          <a:p>
            <a:pPr marL="227329">
              <a:lnSpc>
                <a:spcPct val="100000"/>
              </a:lnSpc>
              <a:spcBef>
                <a:spcPts val="15"/>
              </a:spcBef>
            </a:pPr>
            <a:r>
              <a:rPr dirty="0" sz="900" spc="114" i="1">
                <a:latin typeface="Calibri"/>
                <a:cs typeface="Calibri"/>
              </a:rPr>
              <a:t>//</a:t>
            </a:r>
            <a:r>
              <a:rPr dirty="0" sz="900" spc="340" i="1">
                <a:latin typeface="Calibri"/>
                <a:cs typeface="Calibri"/>
              </a:rPr>
              <a:t> </a:t>
            </a:r>
            <a:r>
              <a:rPr dirty="0" sz="900" i="1">
                <a:latin typeface="Calibri"/>
                <a:cs typeface="Calibri"/>
              </a:rPr>
              <a:t>mark</a:t>
            </a:r>
            <a:r>
              <a:rPr dirty="0" sz="900" spc="340" i="1">
                <a:latin typeface="Calibri"/>
                <a:cs typeface="Calibri"/>
              </a:rPr>
              <a:t> </a:t>
            </a:r>
            <a:r>
              <a:rPr dirty="0" sz="900" i="1">
                <a:latin typeface="Calibri"/>
                <a:cs typeface="Calibri"/>
              </a:rPr>
              <a:t>+</a:t>
            </a:r>
            <a:r>
              <a:rPr dirty="0" sz="900" spc="345" i="1">
                <a:latin typeface="Calibri"/>
                <a:cs typeface="Calibri"/>
              </a:rPr>
              <a:t> </a:t>
            </a:r>
            <a:r>
              <a:rPr dirty="0" sz="900" i="1">
                <a:latin typeface="Calibri"/>
                <a:cs typeface="Calibri"/>
              </a:rPr>
              <a:t>compact</a:t>
            </a:r>
            <a:r>
              <a:rPr dirty="0" sz="900" spc="340" i="1">
                <a:latin typeface="Calibri"/>
                <a:cs typeface="Calibri"/>
              </a:rPr>
              <a:t> </a:t>
            </a:r>
            <a:r>
              <a:rPr dirty="0" sz="900" spc="95" i="1">
                <a:latin typeface="Calibri"/>
                <a:cs typeface="Calibri"/>
              </a:rPr>
              <a:t>cnf</a:t>
            </a:r>
            <a:r>
              <a:rPr dirty="0" sz="900" spc="345" i="1">
                <a:latin typeface="Calibri"/>
                <a:cs typeface="Calibri"/>
              </a:rPr>
              <a:t> </a:t>
            </a:r>
            <a:r>
              <a:rPr dirty="0" sz="900" i="1">
                <a:latin typeface="Calibri"/>
                <a:cs typeface="Calibri"/>
              </a:rPr>
              <a:t>+</a:t>
            </a:r>
            <a:r>
              <a:rPr dirty="0" sz="900" spc="340" i="1">
                <a:latin typeface="Calibri"/>
                <a:cs typeface="Calibri"/>
              </a:rPr>
              <a:t> </a:t>
            </a:r>
            <a:r>
              <a:rPr dirty="0" sz="900" i="1">
                <a:latin typeface="Calibri"/>
                <a:cs typeface="Calibri"/>
              </a:rPr>
              <a:t>update</a:t>
            </a:r>
            <a:r>
              <a:rPr dirty="0" sz="900" spc="345" i="1">
                <a:latin typeface="Calibri"/>
                <a:cs typeface="Calibri"/>
              </a:rPr>
              <a:t> </a:t>
            </a:r>
            <a:r>
              <a:rPr dirty="0" sz="900" i="1">
                <a:latin typeface="Calibri"/>
                <a:cs typeface="Calibri"/>
              </a:rPr>
              <a:t>watches</a:t>
            </a:r>
            <a:r>
              <a:rPr dirty="0" sz="900" spc="340" i="1">
                <a:latin typeface="Calibri"/>
                <a:cs typeface="Calibri"/>
              </a:rPr>
              <a:t> </a:t>
            </a:r>
            <a:r>
              <a:rPr dirty="0" sz="900" spc="45" i="1">
                <a:latin typeface="Calibri"/>
                <a:cs typeface="Calibri"/>
              </a:rPr>
              <a:t>(implemented)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130">
                <a:latin typeface="Calibri"/>
                <a:cs typeface="Calibri"/>
              </a:rPr>
              <a:t>}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95529" y="2933484"/>
            <a:ext cx="5568950" cy="43180"/>
            <a:chOff x="95529" y="2933484"/>
            <a:chExt cx="5568950" cy="43180"/>
          </a:xfrm>
        </p:grpSpPr>
        <p:sp>
          <p:nvSpPr>
            <p:cNvPr id="43" name="object 43" descr=""/>
            <p:cNvSpPr/>
            <p:nvPr/>
          </p:nvSpPr>
          <p:spPr>
            <a:xfrm>
              <a:off x="98056" y="2933484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95529" y="2973971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 h="0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38544" y="2973971"/>
              <a:ext cx="5483225" cy="0"/>
            </a:xfrm>
            <a:custGeom>
              <a:avLst/>
              <a:gdLst/>
              <a:ahLst/>
              <a:cxnLst/>
              <a:rect l="l" t="t" r="r" b="b"/>
              <a:pathLst>
                <a:path w="5483225" h="0">
                  <a:moveTo>
                    <a:pt x="0" y="0"/>
                  </a:moveTo>
                  <a:lnTo>
                    <a:pt x="548290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621451" y="2973971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 h="0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661939" y="2933484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" name="object 48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49" name="object 49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53" name="object 53" descr=""/>
          <p:cNvSpPr txBox="1"/>
          <p:nvPr/>
        </p:nvSpPr>
        <p:spPr>
          <a:xfrm>
            <a:off x="2261361" y="3135783"/>
            <a:ext cx="12376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Add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5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LBD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information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about</a:t>
            </a:r>
            <a:r>
              <a:rPr dirty="0" sz="600" spc="3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clauses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4" name="object 5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55" name="object 5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80772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Next</a:t>
            </a:r>
            <a:r>
              <a:rPr dirty="0" spc="-55"/>
              <a:t> </a:t>
            </a:r>
            <a:r>
              <a:rPr dirty="0" spc="-50"/>
              <a:t>steps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42758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32547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522361"/>
            <a:ext cx="52590" cy="5259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674190"/>
            <a:ext cx="52590" cy="5259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826018"/>
            <a:ext cx="52590" cy="5259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02932" y="1035784"/>
            <a:ext cx="3364229" cy="1096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817370">
              <a:lnSpc>
                <a:spcPct val="113199"/>
              </a:lnSpc>
              <a:spcBef>
                <a:spcPts val="100"/>
              </a:spcBef>
            </a:pPr>
            <a:r>
              <a:rPr dirty="0" sz="1100">
                <a:latin typeface="Tahoma"/>
                <a:cs typeface="Tahoma"/>
              </a:rPr>
              <a:t>Run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larger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benchmark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set. Compare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baseline:</a:t>
            </a:r>
            <a:endParaRPr sz="1100">
              <a:latin typeface="Tahoma"/>
              <a:cs typeface="Tahoma"/>
            </a:endParaRPr>
          </a:p>
          <a:p>
            <a:pPr marL="289560" marR="811530">
              <a:lnSpc>
                <a:spcPct val="100000"/>
              </a:lnSpc>
              <a:spcBef>
                <a:spcPts val="175"/>
              </a:spcBef>
            </a:pPr>
            <a:r>
              <a:rPr dirty="0" sz="1000" spc="-30">
                <a:latin typeface="Tahoma"/>
                <a:cs typeface="Tahoma"/>
              </a:rPr>
              <a:t>runtime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105">
                <a:latin typeface="Tahoma"/>
                <a:cs typeface="Tahoma"/>
              </a:rPr>
              <a:t>/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conflicts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105">
                <a:latin typeface="Tahoma"/>
                <a:cs typeface="Tahoma"/>
              </a:rPr>
              <a:t>/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learned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clauses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count </a:t>
            </a:r>
            <a:r>
              <a:rPr dirty="0" sz="1000" spc="-50">
                <a:latin typeface="Tahoma"/>
                <a:cs typeface="Tahoma"/>
              </a:rPr>
              <a:t>average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50">
                <a:latin typeface="Tahoma"/>
                <a:cs typeface="Tahoma"/>
              </a:rPr>
              <a:t>LBD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glue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fraction</a:t>
            </a:r>
            <a:endParaRPr sz="1000">
              <a:latin typeface="Tahoma"/>
              <a:cs typeface="Tahoma"/>
            </a:endParaRPr>
          </a:p>
          <a:p>
            <a:pPr algn="ctr" marR="55244">
              <a:lnSpc>
                <a:spcPts val="1190"/>
              </a:lnSpc>
            </a:pPr>
            <a:r>
              <a:rPr dirty="0" sz="1000" spc="-25">
                <a:latin typeface="Tahoma"/>
                <a:cs typeface="Tahoma"/>
              </a:rPr>
              <a:t>deletion </a:t>
            </a:r>
            <a:r>
              <a:rPr dirty="0" sz="1000" spc="-10">
                <a:latin typeface="Tahoma"/>
                <a:cs typeface="Tahoma"/>
              </a:rPr>
              <a:t>impact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(how </a:t>
            </a:r>
            <a:r>
              <a:rPr dirty="0" sz="1000" spc="-40">
                <a:latin typeface="Tahoma"/>
                <a:cs typeface="Tahoma"/>
              </a:rPr>
              <a:t>many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clauses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removed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safely)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dirty="0" sz="1100" spc="-10">
                <a:latin typeface="Tahoma"/>
                <a:cs typeface="Tahoma"/>
              </a:rPr>
              <a:t>Optional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improvement: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tune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deletion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rate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thresholds.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023376"/>
            <a:ext cx="65265" cy="65265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1" name="object 11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Amani</a:t>
            </a:r>
            <a:r>
              <a:rPr dirty="0" spc="65"/>
              <a:t> </a:t>
            </a:r>
            <a:r>
              <a:rPr dirty="0" spc="-10"/>
              <a:t>Qaddah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2261361" y="3135783"/>
            <a:ext cx="12376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Add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 spc="5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LBD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information</a:t>
            </a:r>
            <a:r>
              <a:rPr dirty="0" sz="600" spc="3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about</a:t>
            </a:r>
            <a:r>
              <a:rPr dirty="0" sz="600" spc="35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clauses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dirty="0" spc="-10"/>
              <a:t> </a:t>
            </a:r>
            <a:r>
              <a:rPr dirty="0"/>
              <a:t>29,</a:t>
            </a:r>
            <a:r>
              <a:rPr dirty="0" spc="-10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Amani Qaddah</dc:creator>
  <dc:title>Add LBD information about clauses - Predicting Learnt Clauses Quality in Modern SAT Solvers Gilles Audemard, Laurent Simon (IJCAI 2009)</dc:title>
  <dcterms:created xsi:type="dcterms:W3CDTF">2026-01-29T03:31:00Z</dcterms:created>
  <dcterms:modified xsi:type="dcterms:W3CDTF">2026-01-29T03:31:00Z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2026-01-29T00:00:00Z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